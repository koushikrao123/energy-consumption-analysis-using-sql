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67" r:id="rId3"/>
    <p:sldId id="289" r:id="rId4"/>
    <p:sldId id="273" r:id="rId5"/>
    <p:sldId id="272" r:id="rId6"/>
    <p:sldId id="260" r:id="rId7"/>
    <p:sldId id="274" r:id="rId8"/>
    <p:sldId id="261" r:id="rId9"/>
    <p:sldId id="275" r:id="rId10"/>
    <p:sldId id="276" r:id="rId11"/>
    <p:sldId id="277" r:id="rId12"/>
    <p:sldId id="279" r:id="rId13"/>
    <p:sldId id="280" r:id="rId14"/>
    <p:sldId id="281" r:id="rId15"/>
    <p:sldId id="282" r:id="rId16"/>
    <p:sldId id="283" r:id="rId17"/>
    <p:sldId id="284" r:id="rId18"/>
    <p:sldId id="285" r:id="rId19"/>
    <p:sldId id="286" r:id="rId20"/>
    <p:sldId id="287" r:id="rId21"/>
    <p:sldId id="288" r:id="rId22"/>
    <p:sldId id="265" r:id="rId23"/>
    <p:sldId id="266" r:id="rId24"/>
    <p:sldId id="269" r:id="rId25"/>
    <p:sldId id="259" r:id="rId26"/>
  </p:sldIdLst>
  <p:sldSz cx="12192000" cy="6858000"/>
  <p:notesSz cx="6858000" cy="9144000"/>
  <p:embeddedFontLst>
    <p:embeddedFont>
      <p:font typeface="Lato Black" panose="020F0502020204030203" pitchFamily="34" charset="0"/>
      <p:bold r:id="rId28"/>
      <p:boldItalic r:id="rId29"/>
    </p:embeddedFont>
    <p:embeddedFont>
      <p:font typeface="Libre Baskerville" panose="02000000000000000000" pitchFamily="2"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4"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55C468-962D-40E9-9C40-1A239B075084}" v="129" dt="2026-10-02T11:37:15.6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96150" autoAdjust="0"/>
  </p:normalViewPr>
  <p:slideViewPr>
    <p:cSldViewPr snapToGrid="0">
      <p:cViewPr varScale="1">
        <p:scale>
          <a:sx n="102" d="100"/>
          <a:sy n="102" d="100"/>
        </p:scale>
        <p:origin x="106" y="17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dirty="0"/>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009E50A3-E9D5-225D-FE7E-0CBAFFF54C84}"/>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8E60B1BF-BCF6-CB7D-C5E7-DE8CFEDC52D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CC03D707-16D2-8D3F-7B14-2E66DB17DCA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6931167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BC99D822-55BC-E9BC-8D2E-383C3F6432BA}"/>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3158FB48-174E-5408-C753-C16E7387902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1A0E857C-5907-2143-5D18-3676719A0ED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2832784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C016455A-75DB-89E7-2F22-73C633B834E6}"/>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541EAF-31BE-F6FB-ED81-5209E395D6A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E66C97F6-DF95-9043-F5D0-C4464A72F82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762015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31F948D8-BB0B-8FD3-0DEB-7536C7F3D987}"/>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0CCD92A5-466C-2A26-E1F1-27260978FBA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DDB492BA-FF38-7172-9854-716A05C8CE9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4246778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90905">
              <a:schemeClr val="accent2">
                <a:lumMod val="60000"/>
                <a:lumOff val="40000"/>
              </a:schemeClr>
            </a:gs>
            <a:gs pos="44770">
              <a:srgbClr val="D8986E"/>
            </a:gs>
            <a:gs pos="74000">
              <a:schemeClr val="accent2">
                <a:lumMod val="60000"/>
                <a:lumOff val="40000"/>
              </a:schemeClr>
            </a:gs>
            <a:gs pos="83000">
              <a:schemeClr val="accent2">
                <a:lumMod val="60000"/>
                <a:lumOff val="40000"/>
              </a:schemeClr>
            </a:gs>
            <a:gs pos="100000">
              <a:schemeClr val="accent2">
                <a:lumMod val="20000"/>
                <a:lumOff val="80000"/>
              </a:schemeClr>
            </a:gs>
          </a:gsLst>
          <a:lin ang="5400000" scaled="1"/>
          <a:tileRect/>
        </a:gra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shivarlanaveen"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www.linkedin.com/in/naveen-shivarla-571108241"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linkedin.com/in/koushik-rao-54a038352"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github.com/KoushikRao123"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chemeClr val="accent2">
              <a:lumMod val="40000"/>
              <a:lumOff val="60000"/>
            </a:schemeClr>
          </a:fgClr>
          <a:bgClr>
            <a:schemeClr val="bg1"/>
          </a:bgClr>
        </a:pattFill>
        <a:effectLst/>
      </p:bgPr>
    </p:bg>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0" y="21772"/>
            <a:ext cx="12190815" cy="6694098"/>
          </a:xfrm>
          <a:prstGeom prst="rect">
            <a:avLst/>
          </a:prstGeom>
          <a:noFill/>
          <a:ln>
            <a:noFill/>
          </a:ln>
        </p:spPr>
      </p:pic>
      <p:sp>
        <p:nvSpPr>
          <p:cNvPr id="99" name="Google Shape;99;p1"/>
          <p:cNvSpPr txBox="1"/>
          <p:nvPr/>
        </p:nvSpPr>
        <p:spPr>
          <a:xfrm>
            <a:off x="838200" y="3549304"/>
            <a:ext cx="11048999" cy="292383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endParaRPr lang="en-IN" sz="3200" b="1"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r>
              <a:rPr lang="en-IN" sz="4000" b="1" dirty="0">
                <a:solidFill>
                  <a:schemeClr val="tx1">
                    <a:lumMod val="95000"/>
                    <a:lumOff val="5000"/>
                  </a:schemeClr>
                </a:solidFill>
                <a:latin typeface="Calibri"/>
                <a:ea typeface="Calibri"/>
                <a:cs typeface="Calibri"/>
                <a:sym typeface="Calibri"/>
              </a:rPr>
              <a:t>Energy Consumption Analysis</a:t>
            </a:r>
          </a:p>
          <a:p>
            <a:pPr marL="0" marR="0" lvl="0" indent="0" algn="ctr" rtl="0">
              <a:lnSpc>
                <a:spcPct val="100000"/>
              </a:lnSpc>
              <a:spcBef>
                <a:spcPts val="0"/>
              </a:spcBef>
              <a:spcAft>
                <a:spcPts val="0"/>
              </a:spcAft>
              <a:buClr>
                <a:srgbClr val="000000"/>
              </a:buClr>
              <a:buSzPts val="1800"/>
              <a:buFont typeface="Arial"/>
              <a:buNone/>
            </a:pPr>
            <a:endParaRPr lang="en-IN" sz="2800" b="1"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r>
              <a:rPr lang="en-IN" sz="2800" b="1" dirty="0">
                <a:solidFill>
                  <a:schemeClr val="dk1"/>
                </a:solidFill>
                <a:latin typeface="Calibri"/>
                <a:ea typeface="Calibri"/>
                <a:cs typeface="Calibri"/>
                <a:sym typeface="Calibri"/>
              </a:rPr>
              <a:t>                                                                   THAKKALAPALLY KOUSHIK</a:t>
            </a:r>
          </a:p>
          <a:p>
            <a:pPr marL="0" marR="0" lvl="0" indent="0" algn="ctr" rtl="0">
              <a:lnSpc>
                <a:spcPct val="100000"/>
              </a:lnSpc>
              <a:spcBef>
                <a:spcPts val="0"/>
              </a:spcBef>
              <a:spcAft>
                <a:spcPts val="0"/>
              </a:spcAft>
              <a:buClr>
                <a:srgbClr val="000000"/>
              </a:buClr>
              <a:buSzPts val="1800"/>
              <a:buFont typeface="Arial"/>
              <a:buNone/>
            </a:pPr>
            <a:r>
              <a:rPr lang="en-IN" sz="2800" b="1" dirty="0">
                <a:solidFill>
                  <a:schemeClr val="dk1"/>
                </a:solidFill>
                <a:latin typeface="Calibri"/>
                <a:ea typeface="Calibri"/>
                <a:cs typeface="Calibri"/>
                <a:sym typeface="Calibri"/>
              </a:rPr>
              <a:t>                                                                    SHIVARLA NAVEEN</a:t>
            </a:r>
          </a:p>
          <a:p>
            <a:pPr marL="0" marR="0" lvl="0" indent="0" algn="ctr" rtl="0">
              <a:lnSpc>
                <a:spcPct val="100000"/>
              </a:lnSpc>
              <a:spcBef>
                <a:spcPts val="0"/>
              </a:spcBef>
              <a:spcAft>
                <a:spcPts val="0"/>
              </a:spcAft>
              <a:buClr>
                <a:srgbClr val="000000"/>
              </a:buClr>
              <a:buSzPts val="1800"/>
              <a:buFont typeface="Arial"/>
              <a:buNone/>
            </a:pPr>
            <a:r>
              <a:rPr lang="en-IN" sz="2800" b="1" dirty="0">
                <a:solidFill>
                  <a:schemeClr val="dk1"/>
                </a:solidFill>
                <a:latin typeface="Calibri"/>
                <a:ea typeface="Calibri"/>
                <a:cs typeface="Calibri"/>
                <a:sym typeface="Calibri"/>
              </a:rPr>
              <a:t>                                                                        543 BATCH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103">
          <a:extLst>
            <a:ext uri="{FF2B5EF4-FFF2-40B4-BE49-F238E27FC236}">
              <a16:creationId xmlns:a16="http://schemas.microsoft.com/office/drawing/2014/main" id="{80C1BFE5-4A91-C524-9E79-CDD2970694AF}"/>
            </a:ext>
          </a:extLst>
        </p:cNvPr>
        <p:cNvGrpSpPr/>
        <p:nvPr/>
      </p:nvGrpSpPr>
      <p:grpSpPr>
        <a:xfrm>
          <a:off x="0" y="0"/>
          <a:ext cx="0" cy="0"/>
          <a:chOff x="0" y="0"/>
          <a:chExt cx="0" cy="0"/>
        </a:xfrm>
      </p:grpSpPr>
      <p:sp>
        <p:nvSpPr>
          <p:cNvPr id="4" name="Google Shape;111;p4">
            <a:extLst>
              <a:ext uri="{FF2B5EF4-FFF2-40B4-BE49-F238E27FC236}">
                <a16:creationId xmlns:a16="http://schemas.microsoft.com/office/drawing/2014/main" id="{C1BD10D9-E5C6-69AD-3D68-B74F0023F0ED}"/>
              </a:ext>
            </a:extLst>
          </p:cNvPr>
          <p:cNvSpPr txBox="1">
            <a:spLocks/>
          </p:cNvSpPr>
          <p:nvPr/>
        </p:nvSpPr>
        <p:spPr>
          <a:xfrm>
            <a:off x="718457" y="1143000"/>
            <a:ext cx="10571528" cy="4724399"/>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5400">
              <a:lnSpc>
                <a:spcPct val="90000"/>
              </a:lnSpc>
              <a:spcBef>
                <a:spcPts val="1000"/>
              </a:spcBef>
              <a:buSzPts val="2400"/>
            </a:pPr>
            <a:r>
              <a:rPr lang="en-US" altLang="en-US" sz="2400" dirty="0">
                <a:latin typeface="Times New Roman" panose="02020603050405020304" pitchFamily="18" charset="0"/>
                <a:cs typeface="Times New Roman" panose="02020603050405020304" pitchFamily="18" charset="0"/>
              </a:rPr>
              <a:t>Myself </a:t>
            </a:r>
            <a:r>
              <a:rPr lang="en-US" altLang="en-US" sz="2400" b="1" dirty="0">
                <a:latin typeface="Times New Roman" panose="02020603050405020304" pitchFamily="18" charset="0"/>
                <a:cs typeface="Times New Roman" panose="02020603050405020304" pitchFamily="18" charset="0"/>
              </a:rPr>
              <a:t>Naveen</a:t>
            </a:r>
            <a:r>
              <a:rPr lang="en-US" altLang="en-US" sz="2400" dirty="0">
                <a:latin typeface="Times New Roman" panose="02020603050405020304" pitchFamily="18" charset="0"/>
                <a:cs typeface="Times New Roman" panose="02020603050405020304" pitchFamily="18" charset="0"/>
              </a:rPr>
              <a:t> and I completed </a:t>
            </a:r>
            <a:r>
              <a:rPr lang="en-US" altLang="en-US" sz="2400" b="1" dirty="0">
                <a:latin typeface="Times New Roman" panose="02020603050405020304" pitchFamily="18" charset="0"/>
                <a:cs typeface="Times New Roman" panose="02020603050405020304" pitchFamily="18" charset="0"/>
              </a:rPr>
              <a:t>Bacherlor’s of Technology (B.Tech)</a:t>
            </a:r>
            <a:r>
              <a:rPr lang="en-US" altLang="en-US" sz="2400" dirty="0">
                <a:latin typeface="Times New Roman" panose="02020603050405020304" pitchFamily="18" charset="0"/>
                <a:cs typeface="Times New Roman" panose="02020603050405020304" pitchFamily="18" charset="0"/>
              </a:rPr>
              <a:t> from Vardhaman College of Engineering in the </a:t>
            </a:r>
            <a:r>
              <a:rPr lang="en-US" altLang="en-US" sz="2400" b="1" dirty="0">
                <a:latin typeface="Times New Roman" panose="02020603050405020304" pitchFamily="18" charset="0"/>
                <a:cs typeface="Times New Roman" panose="02020603050405020304" pitchFamily="18" charset="0"/>
              </a:rPr>
              <a:t>Computer Science and Engineering(CSE)</a:t>
            </a:r>
            <a:r>
              <a:rPr lang="en-US" altLang="en-US" sz="2400" dirty="0">
                <a:latin typeface="Times New Roman" panose="02020603050405020304" pitchFamily="18" charset="0"/>
                <a:cs typeface="Times New Roman" panose="02020603050405020304" pitchFamily="18" charset="0"/>
              </a:rPr>
              <a:t> in the year of 2025.</a:t>
            </a:r>
          </a:p>
          <a:p>
            <a:pPr marL="25400">
              <a:lnSpc>
                <a:spcPct val="90000"/>
              </a:lnSpc>
              <a:spcBef>
                <a:spcPts val="1000"/>
              </a:spcBef>
              <a:buSzPts val="2400"/>
            </a:pPr>
            <a:r>
              <a:rPr lang="en-US" altLang="en-US" sz="2400" dirty="0">
                <a:latin typeface="Times New Roman" panose="02020603050405020304" pitchFamily="18" charset="0"/>
                <a:cs typeface="Times New Roman" panose="02020603050405020304" pitchFamily="18" charset="0"/>
              </a:rPr>
              <a:t>I did two Virtual Interships from </a:t>
            </a:r>
            <a:r>
              <a:rPr lang="en-US" altLang="en-US" sz="2400" b="1" dirty="0">
                <a:latin typeface="Times New Roman" panose="02020603050405020304" pitchFamily="18" charset="0"/>
                <a:cs typeface="Times New Roman" panose="02020603050405020304" pitchFamily="18" charset="0"/>
              </a:rPr>
              <a:t>Acmegrade</a:t>
            </a:r>
            <a:r>
              <a:rPr lang="en-US" altLang="en-US" sz="2400" dirty="0">
                <a:latin typeface="Times New Roman" panose="02020603050405020304" pitchFamily="18" charset="0"/>
                <a:cs typeface="Times New Roman" panose="02020603050405020304" pitchFamily="18" charset="0"/>
              </a:rPr>
              <a:t> with the technology of python and </a:t>
            </a:r>
            <a:r>
              <a:rPr lang="en-US" altLang="en-US" sz="2400" b="1" dirty="0">
                <a:latin typeface="Times New Roman" panose="02020603050405020304" pitchFamily="18" charset="0"/>
                <a:cs typeface="Times New Roman" panose="02020603050405020304" pitchFamily="18" charset="0"/>
              </a:rPr>
              <a:t>Salesforce</a:t>
            </a:r>
            <a:r>
              <a:rPr lang="en-US" altLang="en-US" sz="2400" dirty="0">
                <a:latin typeface="Times New Roman" panose="02020603050405020304" pitchFamily="18" charset="0"/>
                <a:cs typeface="Times New Roman" panose="02020603050405020304" pitchFamily="18" charset="0"/>
              </a:rPr>
              <a:t> with technology of Apex,Visual Components.</a:t>
            </a:r>
          </a:p>
          <a:p>
            <a:pPr marL="25400">
              <a:lnSpc>
                <a:spcPct val="90000"/>
              </a:lnSpc>
              <a:spcBef>
                <a:spcPts val="1000"/>
              </a:spcBef>
              <a:buSzPts val="2400"/>
            </a:pPr>
            <a:r>
              <a:rPr lang="en-US" altLang="en-US" sz="2400" dirty="0">
                <a:latin typeface="Times New Roman" panose="02020603050405020304" pitchFamily="18" charset="0"/>
                <a:cs typeface="Times New Roman" panose="02020603050405020304" pitchFamily="18" charset="0"/>
              </a:rPr>
              <a:t>I did two pojects in which one is </a:t>
            </a:r>
            <a:r>
              <a:rPr lang="en-US" altLang="en-US" sz="2400" b="1" dirty="0">
                <a:latin typeface="Times New Roman" panose="02020603050405020304" pitchFamily="18" charset="0"/>
                <a:cs typeface="Times New Roman" panose="02020603050405020304" pitchFamily="18" charset="0"/>
              </a:rPr>
              <a:t>Multi Trait Genome Prediction</a:t>
            </a:r>
            <a:r>
              <a:rPr lang="en-US" altLang="en-US" sz="2400" dirty="0">
                <a:latin typeface="Times New Roman" panose="02020603050405020304" pitchFamily="18" charset="0"/>
                <a:cs typeface="Times New Roman" panose="02020603050405020304" pitchFamily="18" charset="0"/>
              </a:rPr>
              <a:t> using Machine learning and </a:t>
            </a:r>
            <a:r>
              <a:rPr lang="en-US" altLang="en-US" sz="2400" b="1" dirty="0">
                <a:latin typeface="Times New Roman" panose="02020603050405020304" pitchFamily="18" charset="0"/>
                <a:cs typeface="Times New Roman" panose="02020603050405020304" pitchFamily="18" charset="0"/>
              </a:rPr>
              <a:t>Patrolling drones with Emerging Technologies</a:t>
            </a:r>
            <a:r>
              <a:rPr lang="en-US" altLang="en-US" sz="2400" dirty="0">
                <a:latin typeface="Times New Roman" panose="02020603050405020304" pitchFamily="18" charset="0"/>
                <a:cs typeface="Times New Roman" panose="02020603050405020304" pitchFamily="18" charset="0"/>
              </a:rPr>
              <a:t>.</a:t>
            </a:r>
          </a:p>
          <a:p>
            <a:pPr marL="25400">
              <a:lnSpc>
                <a:spcPct val="90000"/>
              </a:lnSpc>
              <a:spcBef>
                <a:spcPts val="1000"/>
              </a:spcBef>
              <a:buSzPts val="2400"/>
            </a:pPr>
            <a:r>
              <a:rPr lang="en-US" altLang="en-US" sz="2400" dirty="0">
                <a:latin typeface="Times New Roman" panose="02020603050405020304" pitchFamily="18" charset="0"/>
                <a:cs typeface="Times New Roman" panose="02020603050405020304" pitchFamily="18" charset="0"/>
              </a:rPr>
              <a:t>I took </a:t>
            </a:r>
            <a:r>
              <a:rPr lang="en-US" altLang="en-US" sz="2400" b="1" dirty="0">
                <a:latin typeface="Times New Roman" panose="02020603050405020304" pitchFamily="18" charset="0"/>
                <a:cs typeface="Times New Roman" panose="02020603050405020304" pitchFamily="18" charset="0"/>
              </a:rPr>
              <a:t>Data Science </a:t>
            </a:r>
            <a:r>
              <a:rPr lang="en-US" altLang="en-US" sz="2400" dirty="0">
                <a:latin typeface="Times New Roman" panose="02020603050405020304" pitchFamily="18" charset="0"/>
                <a:cs typeface="Times New Roman" panose="02020603050405020304" pitchFamily="18" charset="0"/>
              </a:rPr>
              <a:t>Course to enhance my analytical thinking and hands on experience to contribute projects.</a:t>
            </a:r>
          </a:p>
          <a:p>
            <a:pPr marL="25400">
              <a:lnSpc>
                <a:spcPct val="90000"/>
              </a:lnSpc>
              <a:spcBef>
                <a:spcPts val="1000"/>
              </a:spcBef>
              <a:buSzPts val="2400"/>
            </a:pPr>
            <a:r>
              <a:rPr lang="en-US" altLang="en-US" sz="2400" b="1" dirty="0">
                <a:latin typeface="Times New Roman" panose="02020603050405020304" pitchFamily="18" charset="0"/>
                <a:cs typeface="Times New Roman" panose="02020603050405020304" pitchFamily="18" charset="0"/>
              </a:rPr>
              <a:t>Github </a:t>
            </a:r>
            <a:r>
              <a:rPr lang="en-US" altLang="en-US" sz="2400"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hlinkClick r:id="rId3"/>
              </a:rPr>
              <a:t>https://github.com/shivarlanaveen</a:t>
            </a:r>
            <a:endParaRPr lang="en-US" altLang="en-US" sz="2400" dirty="0">
              <a:latin typeface="Times New Roman" panose="02020603050405020304" pitchFamily="18" charset="0"/>
              <a:cs typeface="Times New Roman" panose="02020603050405020304" pitchFamily="18" charset="0"/>
            </a:endParaRPr>
          </a:p>
          <a:p>
            <a:pPr marL="25400">
              <a:lnSpc>
                <a:spcPct val="90000"/>
              </a:lnSpc>
              <a:spcBef>
                <a:spcPts val="1000"/>
              </a:spcBef>
              <a:buSzPts val="2400"/>
            </a:pPr>
            <a:r>
              <a:rPr lang="en-US" altLang="en-US" sz="2400" b="1" dirty="0">
                <a:latin typeface="Times New Roman" panose="02020603050405020304" pitchFamily="18" charset="0"/>
                <a:cs typeface="Times New Roman" panose="02020603050405020304" pitchFamily="18" charset="0"/>
              </a:rPr>
              <a:t>Linkedin </a:t>
            </a:r>
            <a:r>
              <a:rPr lang="en-US" altLang="en-US" sz="2400"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hlinkClick r:id="rId4"/>
              </a:rPr>
              <a:t>https://www.linkedin.com/in/naveen-shivarla-571108241</a:t>
            </a:r>
            <a:endParaRPr lang="en-US" altLang="en-US" sz="2400" dirty="0">
              <a:latin typeface="Times New Roman" panose="02020603050405020304" pitchFamily="18" charset="0"/>
              <a:cs typeface="Times New Roman" panose="02020603050405020304" pitchFamily="18" charset="0"/>
            </a:endParaRPr>
          </a:p>
          <a:p>
            <a:pPr marL="25400">
              <a:lnSpc>
                <a:spcPct val="90000"/>
              </a:lnSpc>
              <a:spcBef>
                <a:spcPts val="1000"/>
              </a:spcBef>
              <a:buSzPts val="2400"/>
            </a:pPr>
            <a:endParaRPr lang="en-US" altLang="en-US" sz="2400" dirty="0">
              <a:latin typeface="Times New Roman" panose="02020603050405020304" pitchFamily="18" charset="0"/>
              <a:cs typeface="Times New Roman" panose="02020603050405020304" pitchFamily="18" charset="0"/>
            </a:endParaRPr>
          </a:p>
          <a:p>
            <a:pPr marL="25400">
              <a:lnSpc>
                <a:spcPct val="90000"/>
              </a:lnSpc>
              <a:spcBef>
                <a:spcPts val="1000"/>
              </a:spcBef>
              <a:buSzPts val="2400"/>
            </a:pPr>
            <a:endParaRPr lang="en-US" altLang="en-US" sz="2400" b="1" dirty="0">
              <a:latin typeface="Times New Roman" panose="02020603050405020304" pitchFamily="18" charset="0"/>
              <a:cs typeface="Times New Roman" panose="02020603050405020304" pitchFamily="18" charset="0"/>
            </a:endParaRPr>
          </a:p>
          <a:p>
            <a:pPr marL="25400">
              <a:lnSpc>
                <a:spcPct val="90000"/>
              </a:lnSpc>
              <a:spcBef>
                <a:spcPts val="1000"/>
              </a:spcBef>
              <a:buSzPts val="2400"/>
            </a:pPr>
            <a:endParaRPr lang="en-US" altLang="en-US" sz="2400" b="1" dirty="0">
              <a:latin typeface="Times New Roman" panose="02020603050405020304" pitchFamily="18" charset="0"/>
              <a:cs typeface="Times New Roman" panose="02020603050405020304" pitchFamily="18" charset="0"/>
            </a:endParaRPr>
          </a:p>
          <a:p>
            <a:pPr marL="25400">
              <a:lnSpc>
                <a:spcPct val="90000"/>
              </a:lnSpc>
              <a:spcBef>
                <a:spcPts val="1000"/>
              </a:spcBef>
              <a:buSzPts val="2400"/>
            </a:pPr>
            <a:endParaRPr lang="en-US" altLang="en-US" sz="2400" b="1" dirty="0">
              <a:latin typeface="Times New Roman" panose="02020603050405020304" pitchFamily="18" charset="0"/>
              <a:cs typeface="Times New Roman" panose="02020603050405020304" pitchFamily="18" charset="0"/>
            </a:endParaRPr>
          </a:p>
        </p:txBody>
      </p:sp>
      <p:sp>
        <p:nvSpPr>
          <p:cNvPr id="6" name="Google Shape;110;p4">
            <a:extLst>
              <a:ext uri="{FF2B5EF4-FFF2-40B4-BE49-F238E27FC236}">
                <a16:creationId xmlns:a16="http://schemas.microsoft.com/office/drawing/2014/main" id="{E17B4C3F-F120-8943-F7F4-F36010D4FA39}"/>
              </a:ext>
            </a:extLst>
          </p:cNvPr>
          <p:cNvSpPr txBox="1">
            <a:spLocks/>
          </p:cNvSpPr>
          <p:nvPr/>
        </p:nvSpPr>
        <p:spPr>
          <a:xfrm>
            <a:off x="729343" y="293915"/>
            <a:ext cx="10274129" cy="7620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rgbClr val="FF0000"/>
              </a:buClr>
              <a:buSzPts val="4400"/>
              <a:buFont typeface="Calibri" panose="020F0502020204030204"/>
              <a:buNone/>
            </a:pPr>
            <a:r>
              <a:rPr lang="en-US" sz="3200" b="1" dirty="0">
                <a:solidFill>
                  <a:srgbClr val="FF0000"/>
                </a:solidFill>
              </a:rPr>
              <a:t>About Me</a:t>
            </a:r>
            <a:r>
              <a:rPr lang="en-US" b="1" dirty="0">
                <a:solidFill>
                  <a:srgbClr val="FF0000"/>
                </a:solidFill>
              </a:rPr>
              <a:t> </a:t>
            </a:r>
          </a:p>
        </p:txBody>
      </p:sp>
    </p:spTree>
    <p:extLst>
      <p:ext uri="{BB962C8B-B14F-4D97-AF65-F5344CB8AC3E}">
        <p14:creationId xmlns:p14="http://schemas.microsoft.com/office/powerpoint/2010/main" val="18616139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103">
          <a:extLst>
            <a:ext uri="{FF2B5EF4-FFF2-40B4-BE49-F238E27FC236}">
              <a16:creationId xmlns:a16="http://schemas.microsoft.com/office/drawing/2014/main" id="{DED1F463-100F-23C0-2BFE-71D0C8CAE3FB}"/>
            </a:ext>
          </a:extLst>
        </p:cNvPr>
        <p:cNvGrpSpPr/>
        <p:nvPr/>
      </p:nvGrpSpPr>
      <p:grpSpPr>
        <a:xfrm>
          <a:off x="0" y="0"/>
          <a:ext cx="0" cy="0"/>
          <a:chOff x="0" y="0"/>
          <a:chExt cx="0" cy="0"/>
        </a:xfrm>
      </p:grpSpPr>
      <p:sp>
        <p:nvSpPr>
          <p:cNvPr id="4" name="Google Shape;111;p4">
            <a:extLst>
              <a:ext uri="{FF2B5EF4-FFF2-40B4-BE49-F238E27FC236}">
                <a16:creationId xmlns:a16="http://schemas.microsoft.com/office/drawing/2014/main" id="{2FE075FE-1805-E4E8-33DD-F01D5B814D46}"/>
              </a:ext>
            </a:extLst>
          </p:cNvPr>
          <p:cNvSpPr txBox="1">
            <a:spLocks/>
          </p:cNvSpPr>
          <p:nvPr/>
        </p:nvSpPr>
        <p:spPr>
          <a:xfrm>
            <a:off x="718457" y="1143000"/>
            <a:ext cx="10571528" cy="4724399"/>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5400">
              <a:lnSpc>
                <a:spcPct val="90000"/>
              </a:lnSpc>
              <a:spcBef>
                <a:spcPts val="1000"/>
              </a:spcBef>
              <a:buSzPts val="2400"/>
            </a:pPr>
            <a:r>
              <a:rPr lang="en-US" altLang="en-US" sz="2400" dirty="0">
                <a:latin typeface="Times New Roman" panose="02020603050405020304" pitchFamily="18" charset="0"/>
                <a:cs typeface="Times New Roman" panose="02020603050405020304" pitchFamily="18" charset="0"/>
              </a:rPr>
              <a:t>I am Koushik Thakkalapally, a recent graduate from Malla Reddy College of Engineering and Technology in Computer Science and Engineering.</a:t>
            </a:r>
          </a:p>
          <a:p>
            <a:pPr marL="25400">
              <a:lnSpc>
                <a:spcPct val="90000"/>
              </a:lnSpc>
              <a:spcBef>
                <a:spcPts val="1000"/>
              </a:spcBef>
              <a:buSzPts val="2400"/>
            </a:pPr>
            <a:r>
              <a:rPr lang="en-US" altLang="en-US" sz="2400" dirty="0">
                <a:latin typeface="Times New Roman" panose="02020603050405020304" pitchFamily="18" charset="0"/>
                <a:cs typeface="Times New Roman" panose="02020603050405020304" pitchFamily="18" charset="0"/>
              </a:rPr>
              <a:t>I have done Data Analyst virtual Internship in </a:t>
            </a:r>
            <a:r>
              <a:rPr lang="en-US" altLang="en-US" sz="2400" dirty="0" err="1">
                <a:latin typeface="Times New Roman" panose="02020603050405020304" pitchFamily="18" charset="0"/>
                <a:cs typeface="Times New Roman" panose="02020603050405020304" pitchFamily="18" charset="0"/>
              </a:rPr>
              <a:t>Trainity</a:t>
            </a:r>
            <a:r>
              <a:rPr lang="en-US" altLang="en-US" sz="2400" dirty="0">
                <a:latin typeface="Times New Roman" panose="02020603050405020304" pitchFamily="18" charset="0"/>
                <a:cs typeface="Times New Roman" panose="02020603050405020304" pitchFamily="18" charset="0"/>
              </a:rPr>
              <a:t> and Cambridge English C1 level Certification.</a:t>
            </a:r>
          </a:p>
          <a:p>
            <a:pPr marL="25400">
              <a:lnSpc>
                <a:spcPct val="90000"/>
              </a:lnSpc>
              <a:spcBef>
                <a:spcPts val="1000"/>
              </a:spcBef>
              <a:buSzPts val="2400"/>
            </a:pPr>
            <a:r>
              <a:rPr lang="en-US" altLang="en-US" sz="2400" dirty="0">
                <a:latin typeface="Times New Roman" panose="02020603050405020304" pitchFamily="18" charset="0"/>
                <a:cs typeface="Times New Roman" panose="02020603050405020304" pitchFamily="18" charset="0"/>
              </a:rPr>
              <a:t>I pursued Data Analytics as it aligns with my strategic way of thinking. I am eager to continuously refine my abilities.</a:t>
            </a:r>
          </a:p>
          <a:p>
            <a:pPr marL="25400">
              <a:lnSpc>
                <a:spcPct val="90000"/>
              </a:lnSpc>
              <a:spcBef>
                <a:spcPts val="1000"/>
              </a:spcBef>
              <a:buSzPts val="2400"/>
            </a:pPr>
            <a:endParaRPr lang="en-US" altLang="en-US" sz="2400" dirty="0">
              <a:latin typeface="Times New Roman" panose="02020603050405020304" pitchFamily="18" charset="0"/>
              <a:cs typeface="Times New Roman" panose="02020603050405020304" pitchFamily="18" charset="0"/>
            </a:endParaRPr>
          </a:p>
          <a:p>
            <a:pPr marL="25400">
              <a:lnSpc>
                <a:spcPct val="90000"/>
              </a:lnSpc>
              <a:spcBef>
                <a:spcPts val="1000"/>
              </a:spcBef>
              <a:buSzPts val="2400"/>
            </a:pPr>
            <a:r>
              <a:rPr lang="en-US" altLang="en-US" sz="2400" b="1" dirty="0" err="1">
                <a:latin typeface="Times New Roman" panose="02020603050405020304" pitchFamily="18" charset="0"/>
                <a:cs typeface="Times New Roman" panose="02020603050405020304" pitchFamily="18" charset="0"/>
              </a:rPr>
              <a:t>Linkedin</a:t>
            </a:r>
            <a:r>
              <a:rPr lang="en-US" altLang="en-US" sz="2400"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hlinkClick r:id="rId3"/>
              </a:rPr>
              <a:t>https://linkedin.com/in/koushik-rao-54a038352</a:t>
            </a:r>
            <a:endParaRPr lang="en-US" altLang="en-US" sz="2400" dirty="0">
              <a:latin typeface="Times New Roman" panose="02020603050405020304" pitchFamily="18" charset="0"/>
              <a:cs typeface="Times New Roman" panose="02020603050405020304" pitchFamily="18" charset="0"/>
            </a:endParaRPr>
          </a:p>
          <a:p>
            <a:pPr marL="25400">
              <a:lnSpc>
                <a:spcPct val="90000"/>
              </a:lnSpc>
              <a:spcBef>
                <a:spcPts val="1000"/>
              </a:spcBef>
              <a:buSzPts val="2400"/>
            </a:pPr>
            <a:r>
              <a:rPr lang="en-US" altLang="en-US" sz="2400" b="1" dirty="0" err="1">
                <a:latin typeface="Times New Roman" panose="02020603050405020304" pitchFamily="18" charset="0"/>
                <a:cs typeface="Times New Roman" panose="02020603050405020304" pitchFamily="18" charset="0"/>
              </a:rPr>
              <a:t>Github</a:t>
            </a:r>
            <a:r>
              <a:rPr lang="en-US" altLang="en-US" sz="2400"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hlinkClick r:id="rId4"/>
              </a:rPr>
              <a:t>https://github.com/KoushikRao123</a:t>
            </a:r>
            <a:endParaRPr lang="en-US" altLang="en-US" sz="2400" dirty="0">
              <a:latin typeface="Times New Roman" panose="02020603050405020304" pitchFamily="18" charset="0"/>
              <a:cs typeface="Times New Roman" panose="02020603050405020304" pitchFamily="18" charset="0"/>
            </a:endParaRPr>
          </a:p>
          <a:p>
            <a:pPr marL="25400">
              <a:lnSpc>
                <a:spcPct val="90000"/>
              </a:lnSpc>
              <a:spcBef>
                <a:spcPts val="1000"/>
              </a:spcBef>
              <a:buSzPts val="2400"/>
            </a:pPr>
            <a:endParaRPr lang="en-US" altLang="en-US" sz="2400" dirty="0">
              <a:latin typeface="Times New Roman" panose="02020603050405020304" pitchFamily="18" charset="0"/>
              <a:cs typeface="Times New Roman" panose="02020603050405020304" pitchFamily="18" charset="0"/>
            </a:endParaRPr>
          </a:p>
          <a:p>
            <a:pPr marL="25400">
              <a:lnSpc>
                <a:spcPct val="90000"/>
              </a:lnSpc>
              <a:spcBef>
                <a:spcPts val="1000"/>
              </a:spcBef>
              <a:buSzPts val="2400"/>
            </a:pPr>
            <a:endParaRPr lang="en-US" altLang="en-US" sz="2400" b="1" dirty="0">
              <a:latin typeface="Times New Roman" panose="02020603050405020304" pitchFamily="18" charset="0"/>
              <a:cs typeface="Times New Roman" panose="02020603050405020304" pitchFamily="18" charset="0"/>
            </a:endParaRPr>
          </a:p>
          <a:p>
            <a:pPr marL="25400">
              <a:lnSpc>
                <a:spcPct val="90000"/>
              </a:lnSpc>
              <a:spcBef>
                <a:spcPts val="1000"/>
              </a:spcBef>
              <a:buSzPts val="2400"/>
            </a:pPr>
            <a:endParaRPr lang="en-US" altLang="en-US" sz="2400" b="1" dirty="0">
              <a:latin typeface="Times New Roman" panose="02020603050405020304" pitchFamily="18" charset="0"/>
              <a:cs typeface="Times New Roman" panose="02020603050405020304" pitchFamily="18" charset="0"/>
            </a:endParaRPr>
          </a:p>
          <a:p>
            <a:pPr marL="25400">
              <a:lnSpc>
                <a:spcPct val="90000"/>
              </a:lnSpc>
              <a:spcBef>
                <a:spcPts val="1000"/>
              </a:spcBef>
              <a:buSzPts val="2400"/>
            </a:pPr>
            <a:endParaRPr lang="en-US" altLang="en-US" sz="2400" b="1" dirty="0">
              <a:latin typeface="Times New Roman" panose="02020603050405020304" pitchFamily="18" charset="0"/>
              <a:cs typeface="Times New Roman" panose="02020603050405020304" pitchFamily="18" charset="0"/>
            </a:endParaRPr>
          </a:p>
        </p:txBody>
      </p:sp>
      <p:sp>
        <p:nvSpPr>
          <p:cNvPr id="6" name="Google Shape;110;p4">
            <a:extLst>
              <a:ext uri="{FF2B5EF4-FFF2-40B4-BE49-F238E27FC236}">
                <a16:creationId xmlns:a16="http://schemas.microsoft.com/office/drawing/2014/main" id="{878CF2A8-0B34-F300-36FF-A065EF3FF042}"/>
              </a:ext>
            </a:extLst>
          </p:cNvPr>
          <p:cNvSpPr txBox="1">
            <a:spLocks/>
          </p:cNvSpPr>
          <p:nvPr/>
        </p:nvSpPr>
        <p:spPr>
          <a:xfrm>
            <a:off x="729343" y="293915"/>
            <a:ext cx="10274129" cy="7620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rgbClr val="FF0000"/>
              </a:buClr>
              <a:buSzPts val="4400"/>
              <a:buFont typeface="Calibri" panose="020F0502020204030204"/>
              <a:buNone/>
            </a:pPr>
            <a:r>
              <a:rPr lang="en-US" sz="3200" b="1" dirty="0">
                <a:solidFill>
                  <a:srgbClr val="FF0000"/>
                </a:solidFill>
              </a:rPr>
              <a:t>About Me</a:t>
            </a:r>
            <a:r>
              <a:rPr lang="en-US" b="1" dirty="0">
                <a:solidFill>
                  <a:srgbClr val="FF0000"/>
                </a:solidFill>
              </a:rPr>
              <a:t> </a:t>
            </a:r>
          </a:p>
        </p:txBody>
      </p:sp>
    </p:spTree>
    <p:extLst>
      <p:ext uri="{BB962C8B-B14F-4D97-AF65-F5344CB8AC3E}">
        <p14:creationId xmlns:p14="http://schemas.microsoft.com/office/powerpoint/2010/main" val="14086529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103">
          <a:extLst>
            <a:ext uri="{FF2B5EF4-FFF2-40B4-BE49-F238E27FC236}">
              <a16:creationId xmlns:a16="http://schemas.microsoft.com/office/drawing/2014/main" id="{722B5F03-9C9E-4976-2E85-B39D239C6F7E}"/>
            </a:ext>
          </a:extLst>
        </p:cNvPr>
        <p:cNvGrpSpPr/>
        <p:nvPr/>
      </p:nvGrpSpPr>
      <p:grpSpPr>
        <a:xfrm>
          <a:off x="0" y="0"/>
          <a:ext cx="0" cy="0"/>
          <a:chOff x="0" y="0"/>
          <a:chExt cx="0" cy="0"/>
        </a:xfrm>
      </p:grpSpPr>
      <p:sp>
        <p:nvSpPr>
          <p:cNvPr id="4" name="Google Shape;111;p4">
            <a:extLst>
              <a:ext uri="{FF2B5EF4-FFF2-40B4-BE49-F238E27FC236}">
                <a16:creationId xmlns:a16="http://schemas.microsoft.com/office/drawing/2014/main" id="{10059F2D-1194-414D-426E-E2B77462682F}"/>
              </a:ext>
            </a:extLst>
          </p:cNvPr>
          <p:cNvSpPr txBox="1">
            <a:spLocks/>
          </p:cNvSpPr>
          <p:nvPr/>
        </p:nvSpPr>
        <p:spPr>
          <a:xfrm>
            <a:off x="1040480" y="1549401"/>
            <a:ext cx="10515600" cy="3894667"/>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68300" indent="-342900">
              <a:lnSpc>
                <a:spcPct val="90000"/>
              </a:lnSpc>
              <a:spcBef>
                <a:spcPts val="1000"/>
              </a:spcBef>
              <a:buSzPts val="2400"/>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 Business </a:t>
            </a:r>
            <a:r>
              <a:rPr lang="en-IN" altLang="en-US" sz="2400" b="1" dirty="0">
                <a:latin typeface="Times New Roman" panose="02020603050405020304" pitchFamily="18" charset="0"/>
                <a:cs typeface="Times New Roman" panose="02020603050405020304" pitchFamily="18" charset="0"/>
              </a:rPr>
              <a:t>Problem</a:t>
            </a:r>
          </a:p>
          <a:p>
            <a:pPr marL="457200" indent="-431800">
              <a:lnSpc>
                <a:spcPct val="90000"/>
              </a:lnSpc>
              <a:spcBef>
                <a:spcPts val="1000"/>
              </a:spcBef>
              <a:buSzPts val="2400"/>
              <a:buFont typeface="Arial"/>
              <a:buChar char="•"/>
            </a:pPr>
            <a:r>
              <a:rPr lang="en-IN" altLang="en-US" sz="2400" b="1" dirty="0">
                <a:latin typeface="Times New Roman" panose="02020603050405020304" pitchFamily="18" charset="0"/>
                <a:cs typeface="Times New Roman" panose="02020603050405020304" pitchFamily="18" charset="0"/>
              </a:rPr>
              <a:t>Business Statement</a:t>
            </a:r>
          </a:p>
          <a:p>
            <a:pPr marL="457200" indent="-431800">
              <a:lnSpc>
                <a:spcPct val="90000"/>
              </a:lnSpc>
              <a:spcBef>
                <a:spcPts val="1000"/>
              </a:spcBef>
              <a:buSzPts val="2400"/>
              <a:buFont typeface="Arial"/>
              <a:buChar char="•"/>
            </a:pPr>
            <a:r>
              <a:rPr lang="en-IN" altLang="en-US" sz="2400" b="1" dirty="0">
                <a:latin typeface="Times New Roman" panose="02020603050405020304" pitchFamily="18" charset="0"/>
                <a:cs typeface="Times New Roman" panose="02020603050405020304" pitchFamily="18" charset="0"/>
              </a:rPr>
              <a:t>Introduction</a:t>
            </a:r>
            <a:endParaRPr lang="en-US" altLang="en-US" sz="2400" b="1" dirty="0">
              <a:latin typeface="Times New Roman" panose="02020603050405020304" pitchFamily="18" charset="0"/>
              <a:cs typeface="Times New Roman" panose="02020603050405020304" pitchFamily="18" charset="0"/>
            </a:endParaRPr>
          </a:p>
          <a:p>
            <a:pPr marL="457200" indent="-431800">
              <a:lnSpc>
                <a:spcPct val="90000"/>
              </a:lnSpc>
              <a:spcBef>
                <a:spcPts val="1000"/>
              </a:spcBef>
              <a:buSzPts val="2400"/>
              <a:buFont typeface="Arial"/>
              <a:buChar char="•"/>
            </a:pPr>
            <a:r>
              <a:rPr lang="en-US" altLang="en-US" sz="2400" b="1" dirty="0">
                <a:latin typeface="Times New Roman" panose="02020603050405020304" pitchFamily="18" charset="0"/>
                <a:cs typeface="Times New Roman" panose="02020603050405020304" pitchFamily="18" charset="0"/>
              </a:rPr>
              <a:t>Data Description(Schema Explanation, ER Diagrams, Cardinalities)</a:t>
            </a:r>
            <a:endParaRPr lang="en-IN" altLang="en-US" sz="2400" b="1" dirty="0">
              <a:latin typeface="Times New Roman" panose="02020603050405020304" pitchFamily="18" charset="0"/>
              <a:cs typeface="Times New Roman" panose="02020603050405020304" pitchFamily="18" charset="0"/>
            </a:endParaRPr>
          </a:p>
          <a:p>
            <a:pPr marL="457200" indent="-431800">
              <a:lnSpc>
                <a:spcPct val="90000"/>
              </a:lnSpc>
              <a:spcBef>
                <a:spcPts val="1000"/>
              </a:spcBef>
              <a:buSzPts val="2400"/>
              <a:buFont typeface="Arial"/>
              <a:buChar char="•"/>
            </a:pPr>
            <a:r>
              <a:rPr lang="en-IN" altLang="en-US" sz="2400" b="1" dirty="0">
                <a:latin typeface="Times New Roman" panose="02020603050405020304" pitchFamily="18" charset="0"/>
                <a:cs typeface="Times New Roman" panose="02020603050405020304" pitchFamily="18" charset="0"/>
              </a:rPr>
              <a:t>Queries</a:t>
            </a:r>
          </a:p>
          <a:p>
            <a:pPr marL="457200" indent="-431800">
              <a:lnSpc>
                <a:spcPct val="90000"/>
              </a:lnSpc>
              <a:spcBef>
                <a:spcPts val="1000"/>
              </a:spcBef>
              <a:buSzPts val="2400"/>
              <a:buFont typeface="Arial"/>
              <a:buChar char="•"/>
            </a:pPr>
            <a:r>
              <a:rPr lang="en-IN" altLang="en-US" sz="2400" b="1" dirty="0">
                <a:latin typeface="Times New Roman" panose="02020603050405020304" pitchFamily="18" charset="0"/>
                <a:cs typeface="Times New Roman" panose="02020603050405020304" pitchFamily="18" charset="0"/>
              </a:rPr>
              <a:t>Recommendations</a:t>
            </a:r>
            <a:endParaRPr lang="en-US" altLang="en-US" sz="2400" b="1" dirty="0">
              <a:latin typeface="Times New Roman" panose="02020603050405020304" pitchFamily="18" charset="0"/>
              <a:cs typeface="Times New Roman" panose="02020603050405020304" pitchFamily="18" charset="0"/>
            </a:endParaRPr>
          </a:p>
          <a:p>
            <a:pPr marL="457200" indent="-431800">
              <a:lnSpc>
                <a:spcPct val="90000"/>
              </a:lnSpc>
              <a:spcBef>
                <a:spcPts val="1000"/>
              </a:spcBef>
              <a:buSzPts val="2400"/>
              <a:buFont typeface="Arial"/>
              <a:buChar char="•"/>
            </a:pPr>
            <a:r>
              <a:rPr lang="en-US" altLang="en-US" sz="2400" b="1" dirty="0">
                <a:latin typeface="Times New Roman" panose="02020603050405020304" pitchFamily="18" charset="0"/>
                <a:cs typeface="Times New Roman" panose="02020603050405020304" pitchFamily="18" charset="0"/>
              </a:rPr>
              <a:t>Conclusion</a:t>
            </a:r>
          </a:p>
        </p:txBody>
      </p:sp>
      <p:sp>
        <p:nvSpPr>
          <p:cNvPr id="6" name="Google Shape;110;p4">
            <a:extLst>
              <a:ext uri="{FF2B5EF4-FFF2-40B4-BE49-F238E27FC236}">
                <a16:creationId xmlns:a16="http://schemas.microsoft.com/office/drawing/2014/main" id="{8B04C817-2FA0-D7E2-55B2-C9188DAF8C3A}"/>
              </a:ext>
            </a:extLst>
          </p:cNvPr>
          <p:cNvSpPr txBox="1">
            <a:spLocks/>
          </p:cNvSpPr>
          <p:nvPr/>
        </p:nvSpPr>
        <p:spPr>
          <a:xfrm>
            <a:off x="4582886" y="491066"/>
            <a:ext cx="6420586" cy="872067"/>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rgbClr val="FF0000"/>
              </a:buClr>
              <a:buSzPts val="4400"/>
              <a:buFont typeface="Calibri" panose="020F0502020204030204"/>
              <a:buNone/>
            </a:pPr>
            <a:r>
              <a:rPr lang="en-US" sz="3200" b="1" dirty="0">
                <a:solidFill>
                  <a:srgbClr val="FF0000"/>
                </a:solidFill>
              </a:rPr>
              <a:t>Agenda</a:t>
            </a:r>
            <a:r>
              <a:rPr lang="en-US" b="1" dirty="0">
                <a:solidFill>
                  <a:srgbClr val="FF0000"/>
                </a:solidFill>
              </a:rPr>
              <a:t> </a:t>
            </a:r>
          </a:p>
        </p:txBody>
      </p:sp>
    </p:spTree>
    <p:extLst>
      <p:ext uri="{BB962C8B-B14F-4D97-AF65-F5344CB8AC3E}">
        <p14:creationId xmlns:p14="http://schemas.microsoft.com/office/powerpoint/2010/main" val="1523885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103">
          <a:extLst>
            <a:ext uri="{FF2B5EF4-FFF2-40B4-BE49-F238E27FC236}">
              <a16:creationId xmlns:a16="http://schemas.microsoft.com/office/drawing/2014/main" id="{051E1258-B5BA-6666-4E88-BF5ACC481831}"/>
            </a:ext>
          </a:extLst>
        </p:cNvPr>
        <p:cNvGrpSpPr/>
        <p:nvPr/>
      </p:nvGrpSpPr>
      <p:grpSpPr>
        <a:xfrm>
          <a:off x="0" y="0"/>
          <a:ext cx="0" cy="0"/>
          <a:chOff x="0" y="0"/>
          <a:chExt cx="0" cy="0"/>
        </a:xfrm>
      </p:grpSpPr>
      <p:sp>
        <p:nvSpPr>
          <p:cNvPr id="105" name="Google Shape;105;p3">
            <a:extLst>
              <a:ext uri="{FF2B5EF4-FFF2-40B4-BE49-F238E27FC236}">
                <a16:creationId xmlns:a16="http://schemas.microsoft.com/office/drawing/2014/main" id="{58B13780-5506-71B6-0DA7-D8414929DC3E}"/>
              </a:ext>
            </a:extLst>
          </p:cNvPr>
          <p:cNvSpPr txBox="1"/>
          <p:nvPr/>
        </p:nvSpPr>
        <p:spPr>
          <a:xfrm>
            <a:off x="555170" y="416554"/>
            <a:ext cx="5972085" cy="486247"/>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1" dirty="0">
                <a:solidFill>
                  <a:srgbClr val="FF0000"/>
                </a:solidFill>
                <a:latin typeface="Times New Roman" panose="02020603050405020304" pitchFamily="18" charset="0"/>
                <a:ea typeface="Lato Black"/>
                <a:cs typeface="Times New Roman" panose="02020603050405020304" pitchFamily="18" charset="0"/>
                <a:sym typeface="Lato Black"/>
              </a:rPr>
              <a:t>Business Problem</a:t>
            </a:r>
            <a:endParaRPr sz="1800" b="1" i="0" u="none" strike="noStrike" cap="none" dirty="0">
              <a:solidFill>
                <a:srgbClr val="FF0000"/>
              </a:solidFill>
              <a:latin typeface="Times New Roman" panose="02020603050405020304" pitchFamily="18" charset="0"/>
              <a:ea typeface="Calibri"/>
              <a:cs typeface="Times New Roman" panose="02020603050405020304" pitchFamily="18" charset="0"/>
              <a:sym typeface="Calibri"/>
            </a:endParaRPr>
          </a:p>
        </p:txBody>
      </p:sp>
      <p:sp>
        <p:nvSpPr>
          <p:cNvPr id="9" name="Google Shape;104;p3">
            <a:extLst>
              <a:ext uri="{FF2B5EF4-FFF2-40B4-BE49-F238E27FC236}">
                <a16:creationId xmlns:a16="http://schemas.microsoft.com/office/drawing/2014/main" id="{FF406F12-C405-6073-CEDE-35ECA6EECF64}"/>
              </a:ext>
            </a:extLst>
          </p:cNvPr>
          <p:cNvSpPr txBox="1">
            <a:spLocks noGrp="1"/>
          </p:cNvSpPr>
          <p:nvPr>
            <p:ph type="title"/>
          </p:nvPr>
        </p:nvSpPr>
        <p:spPr>
          <a:xfrm>
            <a:off x="555625" y="1000125"/>
            <a:ext cx="10798175" cy="4247276"/>
          </a:xfrm>
          <a:prstGeom prst="rect">
            <a:avLst/>
          </a:prstGeom>
          <a:noFill/>
          <a:ln>
            <a:noFill/>
          </a:ln>
        </p:spPr>
        <p:txBody>
          <a:bodyPr spcFirstLastPara="1" wrap="square" lIns="91425" tIns="45700" rIns="91425" bIns="45700" anchor="t" anchorCtr="0">
            <a:spAutoFit/>
          </a:bodyPr>
          <a:lstStyle/>
          <a:p>
            <a:r>
              <a:rPr lang="en-IN" sz="2400" dirty="0"/>
              <a:t>Countries face challenges in managing increasing energy demand while controlling environmental impact. There is a need to understand how </a:t>
            </a:r>
            <a:r>
              <a:rPr lang="en-IN" sz="2400" b="1" dirty="0"/>
              <a:t>energy consumption, production, GDP, population, and emissions</a:t>
            </a:r>
            <a:r>
              <a:rPr lang="en-IN" sz="2400" dirty="0"/>
              <a:t> are changing across countries and years.</a:t>
            </a:r>
            <a:br>
              <a:rPr lang="en-IN" sz="2400" dirty="0"/>
            </a:br>
            <a:r>
              <a:rPr lang="en-IN" sz="2400" dirty="0"/>
              <a:t>The business problem is to use historical energy data and SQL analysis to identify </a:t>
            </a:r>
            <a:r>
              <a:rPr lang="en-IN" sz="2400" b="1" dirty="0"/>
              <a:t>energy consumption trends, production-consumption gaps, major emission contributors, and the relationship between economic growth and energy usage</a:t>
            </a:r>
            <a:r>
              <a:rPr lang="en-IN" sz="2400" dirty="0"/>
              <a:t>.</a:t>
            </a:r>
            <a:br>
              <a:rPr lang="en-IN" sz="2400" dirty="0"/>
            </a:br>
            <a:r>
              <a:rPr lang="en-IN" sz="2400" dirty="0"/>
              <a:t>These insights can help organizations and policymakers improve </a:t>
            </a:r>
            <a:r>
              <a:rPr lang="en-IN" sz="2400" b="1" dirty="0"/>
              <a:t>energy planning, resource utilization, and sustainability strategies</a:t>
            </a:r>
            <a:r>
              <a:rPr lang="en-IN" sz="2400" dirty="0"/>
              <a:t>.</a:t>
            </a:r>
            <a:br>
              <a:rPr lang="en-IN" sz="2400" dirty="0"/>
            </a:br>
            <a:br>
              <a:rPr lang="en-IN" sz="2800" dirty="0"/>
            </a:br>
            <a:br>
              <a:rPr lang="en-IN" sz="2800" dirty="0">
                <a:latin typeface="Times New Roman" panose="02020603050405020304" pitchFamily="18" charset="0"/>
                <a:cs typeface="Times New Roman" panose="02020603050405020304" pitchFamily="18" charset="0"/>
              </a:rPr>
            </a:br>
            <a:endParaRPr lang="en-US" sz="2800" b="1" i="0" u="none" strike="noStrike" cap="none" dirty="0">
              <a:solidFill>
                <a:schemeClr val="dk1"/>
              </a:solidFill>
              <a:latin typeface="Times New Roman" panose="02020603050405020304" pitchFamily="18" charset="0"/>
              <a:cs typeface="Times New Roman" panose="02020603050405020304" pitchFamily="18" charset="0"/>
              <a:sym typeface="Calibri"/>
            </a:endParaRPr>
          </a:p>
        </p:txBody>
      </p:sp>
    </p:spTree>
    <p:extLst>
      <p:ext uri="{BB962C8B-B14F-4D97-AF65-F5344CB8AC3E}">
        <p14:creationId xmlns:p14="http://schemas.microsoft.com/office/powerpoint/2010/main" val="3181434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Google Shape;105;p3">
            <a:extLst>
              <a:ext uri="{FF2B5EF4-FFF2-40B4-BE49-F238E27FC236}">
                <a16:creationId xmlns:a16="http://schemas.microsoft.com/office/drawing/2014/main" id="{13AEFBAB-C26E-282C-BEF8-D274487A17BA}"/>
              </a:ext>
            </a:extLst>
          </p:cNvPr>
          <p:cNvSpPr txBox="1"/>
          <p:nvPr/>
        </p:nvSpPr>
        <p:spPr>
          <a:xfrm>
            <a:off x="566056" y="416554"/>
            <a:ext cx="5961199" cy="486247"/>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1" dirty="0">
                <a:solidFill>
                  <a:srgbClr val="FF0000"/>
                </a:solidFill>
                <a:latin typeface="Times New Roman" panose="02020603050405020304" pitchFamily="18" charset="0"/>
                <a:ea typeface="Lato Black"/>
                <a:cs typeface="Times New Roman" panose="02020603050405020304" pitchFamily="18" charset="0"/>
                <a:sym typeface="Lato Black"/>
              </a:rPr>
              <a:t>Business Statement</a:t>
            </a:r>
            <a:endParaRPr sz="1800" b="1" i="0" u="none" strike="noStrike" cap="none" dirty="0">
              <a:solidFill>
                <a:srgbClr val="FF0000"/>
              </a:solidFill>
              <a:latin typeface="Times New Roman" panose="02020603050405020304" pitchFamily="18" charset="0"/>
              <a:ea typeface="Calibri"/>
              <a:cs typeface="Times New Roman" panose="02020603050405020304" pitchFamily="18" charset="0"/>
              <a:sym typeface="Calibri"/>
            </a:endParaRPr>
          </a:p>
        </p:txBody>
      </p:sp>
      <p:sp>
        <p:nvSpPr>
          <p:cNvPr id="6" name="Title 3">
            <a:extLst>
              <a:ext uri="{FF2B5EF4-FFF2-40B4-BE49-F238E27FC236}">
                <a16:creationId xmlns:a16="http://schemas.microsoft.com/office/drawing/2014/main" id="{160339B9-1804-CE9F-1182-63E16E71E3D4}"/>
              </a:ext>
            </a:extLst>
          </p:cNvPr>
          <p:cNvSpPr>
            <a:spLocks noGrp="1"/>
          </p:cNvSpPr>
          <p:nvPr>
            <p:ph type="body" idx="1"/>
          </p:nvPr>
        </p:nvSpPr>
        <p:spPr>
          <a:xfrm>
            <a:off x="501650" y="958849"/>
            <a:ext cx="10515600" cy="4543181"/>
          </a:xfrm>
        </p:spPr>
        <p:txBody>
          <a:bodyPr>
            <a:normAutofit/>
          </a:bodyPr>
          <a:lstStyle/>
          <a:p>
            <a:pPr>
              <a:buFont typeface="Wingdings" panose="05000000000000000000" pitchFamily="2" charset="2"/>
              <a:buChar char="q"/>
            </a:pPr>
            <a:r>
              <a:rPr lang="en-IN" sz="2400" dirty="0"/>
              <a:t>The energy sector needs to effectively monitor and understand energy usage patterns across different countries and time periods. Organizations require reliable insights into energy consumption, production, economic growth, population, and emissions to support strategic planning.This project provides a data-driven view of global energy performance by analyzing historical energy data using SQL. It helps stakeholders understand changing energy demand, compare countries, evaluate environmental impact, and identify opportunities for improving energy efficiency and sustainability.</a:t>
            </a:r>
          </a:p>
          <a:p>
            <a:pPr marL="114300" indent="0">
              <a:buNone/>
            </a:pPr>
            <a:endParaRPr lang="en-IN" dirty="0"/>
          </a:p>
        </p:txBody>
      </p:sp>
    </p:spTree>
    <p:extLst>
      <p:ext uri="{BB962C8B-B14F-4D97-AF65-F5344CB8AC3E}">
        <p14:creationId xmlns:p14="http://schemas.microsoft.com/office/powerpoint/2010/main" val="1112652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2A7CD51-92A0-9CDA-1D84-E38C04EFDEF5}"/>
            </a:ext>
          </a:extLst>
        </p:cNvPr>
        <p:cNvGrpSpPr/>
        <p:nvPr/>
      </p:nvGrpSpPr>
      <p:grpSpPr>
        <a:xfrm>
          <a:off x="0" y="0"/>
          <a:ext cx="0" cy="0"/>
          <a:chOff x="0" y="0"/>
          <a:chExt cx="0" cy="0"/>
        </a:xfrm>
      </p:grpSpPr>
      <p:sp>
        <p:nvSpPr>
          <p:cNvPr id="2" name="Google Shape;105;p3">
            <a:extLst>
              <a:ext uri="{FF2B5EF4-FFF2-40B4-BE49-F238E27FC236}">
                <a16:creationId xmlns:a16="http://schemas.microsoft.com/office/drawing/2014/main" id="{416529DA-6C04-DDDC-8A36-6643251B98CE}"/>
              </a:ext>
            </a:extLst>
          </p:cNvPr>
          <p:cNvSpPr txBox="1"/>
          <p:nvPr/>
        </p:nvSpPr>
        <p:spPr>
          <a:xfrm>
            <a:off x="566056" y="416554"/>
            <a:ext cx="5961199" cy="486247"/>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1" dirty="0">
                <a:solidFill>
                  <a:srgbClr val="FF0000"/>
                </a:solidFill>
                <a:latin typeface="Times New Roman" panose="02020603050405020304" pitchFamily="18" charset="0"/>
                <a:ea typeface="Lato Black"/>
                <a:cs typeface="Times New Roman" panose="02020603050405020304" pitchFamily="18" charset="0"/>
                <a:sym typeface="Lato Black"/>
              </a:rPr>
              <a:t>Introduction</a:t>
            </a:r>
            <a:endParaRPr sz="1800" b="1" i="0" u="none" strike="noStrike" cap="none" dirty="0">
              <a:solidFill>
                <a:srgbClr val="FF0000"/>
              </a:solidFill>
              <a:latin typeface="Times New Roman" panose="02020603050405020304" pitchFamily="18" charset="0"/>
              <a:ea typeface="Calibri"/>
              <a:cs typeface="Times New Roman" panose="02020603050405020304" pitchFamily="18" charset="0"/>
              <a:sym typeface="Calibri"/>
            </a:endParaRPr>
          </a:p>
        </p:txBody>
      </p:sp>
      <p:sp>
        <p:nvSpPr>
          <p:cNvPr id="6" name="Title 3">
            <a:extLst>
              <a:ext uri="{FF2B5EF4-FFF2-40B4-BE49-F238E27FC236}">
                <a16:creationId xmlns:a16="http://schemas.microsoft.com/office/drawing/2014/main" id="{4D569431-DDBC-1AFA-F404-D3BFFE5DE703}"/>
              </a:ext>
            </a:extLst>
          </p:cNvPr>
          <p:cNvSpPr>
            <a:spLocks noGrp="1"/>
          </p:cNvSpPr>
          <p:nvPr>
            <p:ph type="body" idx="1"/>
          </p:nvPr>
        </p:nvSpPr>
        <p:spPr>
          <a:xfrm>
            <a:off x="501650" y="863600"/>
            <a:ext cx="10515600" cy="5858933"/>
          </a:xfrm>
        </p:spPr>
        <p:txBody>
          <a:bodyPr>
            <a:normAutofit/>
          </a:bodyPr>
          <a:lstStyle/>
          <a:p>
            <a:pPr>
              <a:buFont typeface="Wingdings" panose="05000000000000000000" pitchFamily="2" charset="2"/>
              <a:buChar char="q"/>
            </a:pPr>
            <a:r>
              <a:rPr lang="en-IN" sz="2400" dirty="0"/>
              <a:t>Energy plays a vital role in economic development and the growth of countries. However, increasing energy consumption can also lead to higher carbon emissions and environmental challenges. This project, </a:t>
            </a:r>
            <a:r>
              <a:rPr lang="en-IN" sz="2400" b="1" dirty="0"/>
              <a:t>Energy Consumption Analysis</a:t>
            </a:r>
            <a:r>
              <a:rPr lang="en-IN" sz="2400" dirty="0"/>
              <a:t>, uses SQL and data analysis techniques to study energy production and consumption across different countries and years. It also examines the relationship between energy usage, GDP, population, and emissions.The analysis helps identify major energy-consuming countries, changes in global emissions, energy consumption per capita, and differences between energy production and consumption.Overall, the project aims to provide </a:t>
            </a:r>
            <a:r>
              <a:rPr lang="en-IN" sz="2400" b="1" dirty="0"/>
              <a:t>data-driven insights for better energy planning, understanding environmental impacts, and supporting sustainable development and informed decision-making</a:t>
            </a:r>
            <a:r>
              <a:rPr lang="en-IN" sz="2400" dirty="0"/>
              <a:t>.</a:t>
            </a:r>
          </a:p>
          <a:p>
            <a:endParaRPr lang="en-IN" dirty="0"/>
          </a:p>
          <a:p>
            <a:pPr marL="114300" indent="0">
              <a:buNone/>
            </a:pPr>
            <a:endParaRPr lang="en-IN" dirty="0"/>
          </a:p>
        </p:txBody>
      </p:sp>
    </p:spTree>
    <p:extLst>
      <p:ext uri="{BB962C8B-B14F-4D97-AF65-F5344CB8AC3E}">
        <p14:creationId xmlns:p14="http://schemas.microsoft.com/office/powerpoint/2010/main" val="2189093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45D3F9-F95E-0341-FA33-58EB6FF23831}"/>
              </a:ext>
            </a:extLst>
          </p:cNvPr>
          <p:cNvSpPr>
            <a:spLocks noGrp="1"/>
          </p:cNvSpPr>
          <p:nvPr>
            <p:ph type="body" idx="1"/>
          </p:nvPr>
        </p:nvSpPr>
        <p:spPr>
          <a:xfrm>
            <a:off x="914401" y="1716374"/>
            <a:ext cx="10941570" cy="4414604"/>
          </a:xfrm>
        </p:spPr>
        <p:txBody>
          <a:bodyPr/>
          <a:lstStyle/>
          <a:p>
            <a:pPr marL="114300" indent="0">
              <a:buNone/>
            </a:pPr>
            <a:r>
              <a:rPr lang="en-IN" dirty="0"/>
              <a:t>Country Table                                             Emission Table                                          </a:t>
            </a:r>
          </a:p>
        </p:txBody>
      </p:sp>
      <p:sp>
        <p:nvSpPr>
          <p:cNvPr id="4" name="Google Shape;105;p3">
            <a:extLst>
              <a:ext uri="{FF2B5EF4-FFF2-40B4-BE49-F238E27FC236}">
                <a16:creationId xmlns:a16="http://schemas.microsoft.com/office/drawing/2014/main" id="{E99EC3CB-1D08-0D06-2849-06BEDA5542C4}"/>
              </a:ext>
            </a:extLst>
          </p:cNvPr>
          <p:cNvSpPr txBox="1"/>
          <p:nvPr/>
        </p:nvSpPr>
        <p:spPr>
          <a:xfrm>
            <a:off x="804984" y="416554"/>
            <a:ext cx="5722271" cy="486247"/>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1" dirty="0">
                <a:solidFill>
                  <a:srgbClr val="FF0000"/>
                </a:solidFill>
                <a:latin typeface="Times New Roman" panose="02020603050405020304" pitchFamily="18" charset="0"/>
                <a:ea typeface="Lato Black"/>
                <a:cs typeface="Times New Roman" panose="02020603050405020304" pitchFamily="18" charset="0"/>
                <a:sym typeface="Lato Black"/>
              </a:rPr>
              <a:t>Data Description</a:t>
            </a:r>
          </a:p>
        </p:txBody>
      </p:sp>
      <p:sp>
        <p:nvSpPr>
          <p:cNvPr id="2" name="Google Shape;105;p3">
            <a:extLst>
              <a:ext uri="{FF2B5EF4-FFF2-40B4-BE49-F238E27FC236}">
                <a16:creationId xmlns:a16="http://schemas.microsoft.com/office/drawing/2014/main" id="{03908647-7350-5E7E-249B-4A939E974DB4}"/>
              </a:ext>
            </a:extLst>
          </p:cNvPr>
          <p:cNvSpPr txBox="1"/>
          <p:nvPr/>
        </p:nvSpPr>
        <p:spPr>
          <a:xfrm>
            <a:off x="898117" y="1102354"/>
            <a:ext cx="5722271" cy="486247"/>
          </a:xfrm>
          <a:prstGeom prst="rect">
            <a:avLst/>
          </a:prstGeom>
          <a:noFill/>
          <a:ln>
            <a:noFill/>
          </a:ln>
        </p:spPr>
        <p:txBody>
          <a:bodyPr spcFirstLastPara="1" wrap="square" lIns="91425" tIns="45700" rIns="91425" bIns="45700" anchor="t" anchorCtr="0">
            <a:spAutoFit/>
          </a:bodyPr>
          <a:lstStyle/>
          <a:p>
            <a:pPr marL="457200" marR="0" lvl="0" indent="-457200" algn="l" rtl="0">
              <a:lnSpc>
                <a:spcPct val="80000"/>
              </a:lnSpc>
              <a:spcBef>
                <a:spcPts val="0"/>
              </a:spcBef>
              <a:spcAft>
                <a:spcPts val="0"/>
              </a:spcAft>
              <a:buClr>
                <a:srgbClr val="FF0000"/>
              </a:buClr>
              <a:buSzPts val="3200"/>
              <a:buFont typeface="Wingdings" panose="05000000000000000000" pitchFamily="2" charset="2"/>
              <a:buChar char="Ø"/>
            </a:pPr>
            <a:r>
              <a:rPr lang="en-IN" sz="3200" b="1" dirty="0">
                <a:solidFill>
                  <a:srgbClr val="FF0000"/>
                </a:solidFill>
                <a:latin typeface="Times New Roman" panose="02020603050405020304" pitchFamily="18" charset="0"/>
                <a:ea typeface="Lato Black"/>
                <a:cs typeface="Times New Roman" panose="02020603050405020304" pitchFamily="18" charset="0"/>
                <a:sym typeface="Lato Black"/>
              </a:rPr>
              <a:t>Tables</a:t>
            </a:r>
          </a:p>
        </p:txBody>
      </p:sp>
      <p:pic>
        <p:nvPicPr>
          <p:cNvPr id="7" name="Picture 6">
            <a:extLst>
              <a:ext uri="{FF2B5EF4-FFF2-40B4-BE49-F238E27FC236}">
                <a16:creationId xmlns:a16="http://schemas.microsoft.com/office/drawing/2014/main" id="{D2663A0A-CCD6-34A3-33AA-0E1A45E49FE7}"/>
              </a:ext>
            </a:extLst>
          </p:cNvPr>
          <p:cNvPicPr>
            <a:picLocks noChangeAspect="1"/>
          </p:cNvPicPr>
          <p:nvPr/>
        </p:nvPicPr>
        <p:blipFill>
          <a:blip r:embed="rId2"/>
          <a:stretch>
            <a:fillRect/>
          </a:stretch>
        </p:blipFill>
        <p:spPr>
          <a:xfrm>
            <a:off x="1085868" y="2577321"/>
            <a:ext cx="2970499" cy="1200709"/>
          </a:xfrm>
          <a:prstGeom prst="rect">
            <a:avLst/>
          </a:prstGeom>
        </p:spPr>
      </p:pic>
      <p:pic>
        <p:nvPicPr>
          <p:cNvPr id="10" name="Picture 9">
            <a:extLst>
              <a:ext uri="{FF2B5EF4-FFF2-40B4-BE49-F238E27FC236}">
                <a16:creationId xmlns:a16="http://schemas.microsoft.com/office/drawing/2014/main" id="{D86D3C38-FADF-1C1B-DB33-FF9B3CF9F8BC}"/>
              </a:ext>
            </a:extLst>
          </p:cNvPr>
          <p:cNvPicPr>
            <a:picLocks noChangeAspect="1"/>
          </p:cNvPicPr>
          <p:nvPr/>
        </p:nvPicPr>
        <p:blipFill>
          <a:blip r:embed="rId3"/>
          <a:stretch>
            <a:fillRect/>
          </a:stretch>
        </p:blipFill>
        <p:spPr>
          <a:xfrm>
            <a:off x="6735875" y="2554566"/>
            <a:ext cx="3977985" cy="2133785"/>
          </a:xfrm>
          <a:prstGeom prst="rect">
            <a:avLst/>
          </a:prstGeom>
        </p:spPr>
      </p:pic>
    </p:spTree>
    <p:extLst>
      <p:ext uri="{BB962C8B-B14F-4D97-AF65-F5344CB8AC3E}">
        <p14:creationId xmlns:p14="http://schemas.microsoft.com/office/powerpoint/2010/main" val="3376542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874AA0A-0230-EF6C-23BF-415B07AF14F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1FAA809-5AB5-59C0-C614-E39F87D30A90}"/>
              </a:ext>
            </a:extLst>
          </p:cNvPr>
          <p:cNvSpPr>
            <a:spLocks noGrp="1"/>
          </p:cNvSpPr>
          <p:nvPr>
            <p:ph type="body" idx="1"/>
          </p:nvPr>
        </p:nvSpPr>
        <p:spPr>
          <a:xfrm>
            <a:off x="685800" y="1727200"/>
            <a:ext cx="10668000" cy="4758267"/>
          </a:xfrm>
        </p:spPr>
        <p:txBody>
          <a:bodyPr/>
          <a:lstStyle/>
          <a:p>
            <a:pPr marL="114300" indent="0">
              <a:buNone/>
            </a:pPr>
            <a:r>
              <a:rPr lang="en-IN" dirty="0"/>
              <a:t>Population Table                                               Production Table                                          </a:t>
            </a:r>
          </a:p>
        </p:txBody>
      </p:sp>
      <p:sp>
        <p:nvSpPr>
          <p:cNvPr id="4" name="Google Shape;105;p3">
            <a:extLst>
              <a:ext uri="{FF2B5EF4-FFF2-40B4-BE49-F238E27FC236}">
                <a16:creationId xmlns:a16="http://schemas.microsoft.com/office/drawing/2014/main" id="{D7ECE409-8B7D-FA97-D3FB-B2D16A7DA863}"/>
              </a:ext>
            </a:extLst>
          </p:cNvPr>
          <p:cNvSpPr txBox="1"/>
          <p:nvPr/>
        </p:nvSpPr>
        <p:spPr>
          <a:xfrm>
            <a:off x="804984" y="416554"/>
            <a:ext cx="5722271" cy="486247"/>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1" dirty="0">
                <a:solidFill>
                  <a:srgbClr val="FF0000"/>
                </a:solidFill>
                <a:latin typeface="Times New Roman" panose="02020603050405020304" pitchFamily="18" charset="0"/>
                <a:ea typeface="Lato Black"/>
                <a:cs typeface="Times New Roman" panose="02020603050405020304" pitchFamily="18" charset="0"/>
                <a:sym typeface="Lato Black"/>
              </a:rPr>
              <a:t>Data Description</a:t>
            </a:r>
          </a:p>
        </p:txBody>
      </p:sp>
      <p:sp>
        <p:nvSpPr>
          <p:cNvPr id="2" name="Google Shape;105;p3">
            <a:extLst>
              <a:ext uri="{FF2B5EF4-FFF2-40B4-BE49-F238E27FC236}">
                <a16:creationId xmlns:a16="http://schemas.microsoft.com/office/drawing/2014/main" id="{DDB8BEC1-BC37-7E43-2027-3C4302CB6D37}"/>
              </a:ext>
            </a:extLst>
          </p:cNvPr>
          <p:cNvSpPr txBox="1"/>
          <p:nvPr/>
        </p:nvSpPr>
        <p:spPr>
          <a:xfrm>
            <a:off x="898117" y="1102354"/>
            <a:ext cx="5722271" cy="486247"/>
          </a:xfrm>
          <a:prstGeom prst="rect">
            <a:avLst/>
          </a:prstGeom>
          <a:noFill/>
          <a:ln>
            <a:noFill/>
          </a:ln>
        </p:spPr>
        <p:txBody>
          <a:bodyPr spcFirstLastPara="1" wrap="square" lIns="91425" tIns="45700" rIns="91425" bIns="45700" anchor="t" anchorCtr="0">
            <a:spAutoFit/>
          </a:bodyPr>
          <a:lstStyle/>
          <a:p>
            <a:pPr marL="457200" marR="0" lvl="0" indent="-457200" algn="l" rtl="0">
              <a:lnSpc>
                <a:spcPct val="80000"/>
              </a:lnSpc>
              <a:spcBef>
                <a:spcPts val="0"/>
              </a:spcBef>
              <a:spcAft>
                <a:spcPts val="0"/>
              </a:spcAft>
              <a:buClr>
                <a:srgbClr val="FF0000"/>
              </a:buClr>
              <a:buSzPts val="3200"/>
              <a:buFont typeface="Wingdings" panose="05000000000000000000" pitchFamily="2" charset="2"/>
              <a:buChar char="Ø"/>
            </a:pPr>
            <a:r>
              <a:rPr lang="en-IN" sz="3200" b="1" dirty="0">
                <a:solidFill>
                  <a:srgbClr val="FF0000"/>
                </a:solidFill>
                <a:latin typeface="Times New Roman" panose="02020603050405020304" pitchFamily="18" charset="0"/>
                <a:ea typeface="Lato Black"/>
                <a:cs typeface="Times New Roman" panose="02020603050405020304" pitchFamily="18" charset="0"/>
                <a:sym typeface="Lato Black"/>
              </a:rPr>
              <a:t>Tables</a:t>
            </a:r>
          </a:p>
        </p:txBody>
      </p:sp>
      <p:pic>
        <p:nvPicPr>
          <p:cNvPr id="6" name="Picture 5">
            <a:extLst>
              <a:ext uri="{FF2B5EF4-FFF2-40B4-BE49-F238E27FC236}">
                <a16:creationId xmlns:a16="http://schemas.microsoft.com/office/drawing/2014/main" id="{D400014C-4AD6-BAB3-840B-48C3625343E2}"/>
              </a:ext>
            </a:extLst>
          </p:cNvPr>
          <p:cNvPicPr>
            <a:picLocks noChangeAspect="1"/>
          </p:cNvPicPr>
          <p:nvPr/>
        </p:nvPicPr>
        <p:blipFill>
          <a:blip r:embed="rId2"/>
          <a:stretch>
            <a:fillRect/>
          </a:stretch>
        </p:blipFill>
        <p:spPr>
          <a:xfrm>
            <a:off x="862557" y="2594158"/>
            <a:ext cx="4313294" cy="1691787"/>
          </a:xfrm>
          <a:prstGeom prst="rect">
            <a:avLst/>
          </a:prstGeom>
        </p:spPr>
      </p:pic>
      <p:pic>
        <p:nvPicPr>
          <p:cNvPr id="9" name="Picture 8">
            <a:extLst>
              <a:ext uri="{FF2B5EF4-FFF2-40B4-BE49-F238E27FC236}">
                <a16:creationId xmlns:a16="http://schemas.microsoft.com/office/drawing/2014/main" id="{5A1672CB-05CE-D6B5-B90F-E9B0A40DE998}"/>
              </a:ext>
            </a:extLst>
          </p:cNvPr>
          <p:cNvPicPr>
            <a:picLocks noChangeAspect="1"/>
          </p:cNvPicPr>
          <p:nvPr/>
        </p:nvPicPr>
        <p:blipFill>
          <a:blip r:embed="rId3"/>
          <a:stretch>
            <a:fillRect/>
          </a:stretch>
        </p:blipFill>
        <p:spPr>
          <a:xfrm>
            <a:off x="7094504" y="2521916"/>
            <a:ext cx="4054191" cy="2133785"/>
          </a:xfrm>
          <a:prstGeom prst="rect">
            <a:avLst/>
          </a:prstGeom>
        </p:spPr>
      </p:pic>
    </p:spTree>
    <p:extLst>
      <p:ext uri="{BB962C8B-B14F-4D97-AF65-F5344CB8AC3E}">
        <p14:creationId xmlns:p14="http://schemas.microsoft.com/office/powerpoint/2010/main" val="674166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765B3CE-7098-C52A-C6CC-B994460BDFA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FF931DCD-D604-A18F-66C1-E7769BA28DF0}"/>
              </a:ext>
            </a:extLst>
          </p:cNvPr>
          <p:cNvSpPr>
            <a:spLocks noGrp="1"/>
          </p:cNvSpPr>
          <p:nvPr>
            <p:ph type="body" idx="1"/>
          </p:nvPr>
        </p:nvSpPr>
        <p:spPr>
          <a:xfrm>
            <a:off x="418011" y="1727200"/>
            <a:ext cx="10935789" cy="4758267"/>
          </a:xfrm>
        </p:spPr>
        <p:txBody>
          <a:bodyPr/>
          <a:lstStyle/>
          <a:p>
            <a:pPr marL="114300" indent="0">
              <a:buNone/>
            </a:pPr>
            <a:r>
              <a:rPr lang="en-IN" dirty="0"/>
              <a:t>   GDP Table                                                 Consumption Table                                          </a:t>
            </a:r>
          </a:p>
        </p:txBody>
      </p:sp>
      <p:sp>
        <p:nvSpPr>
          <p:cNvPr id="4" name="Google Shape;105;p3">
            <a:extLst>
              <a:ext uri="{FF2B5EF4-FFF2-40B4-BE49-F238E27FC236}">
                <a16:creationId xmlns:a16="http://schemas.microsoft.com/office/drawing/2014/main" id="{F77D7711-3456-AFB2-3F40-CFAD36DCDFC1}"/>
              </a:ext>
            </a:extLst>
          </p:cNvPr>
          <p:cNvSpPr txBox="1"/>
          <p:nvPr/>
        </p:nvSpPr>
        <p:spPr>
          <a:xfrm>
            <a:off x="804984" y="416554"/>
            <a:ext cx="5722271" cy="486247"/>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1" dirty="0">
                <a:solidFill>
                  <a:srgbClr val="FF0000"/>
                </a:solidFill>
                <a:latin typeface="Times New Roman" panose="02020603050405020304" pitchFamily="18" charset="0"/>
                <a:ea typeface="Lato Black"/>
                <a:cs typeface="Times New Roman" panose="02020603050405020304" pitchFamily="18" charset="0"/>
                <a:sym typeface="Lato Black"/>
              </a:rPr>
              <a:t>Data Description</a:t>
            </a:r>
          </a:p>
        </p:txBody>
      </p:sp>
      <p:sp>
        <p:nvSpPr>
          <p:cNvPr id="2" name="Google Shape;105;p3">
            <a:extLst>
              <a:ext uri="{FF2B5EF4-FFF2-40B4-BE49-F238E27FC236}">
                <a16:creationId xmlns:a16="http://schemas.microsoft.com/office/drawing/2014/main" id="{42A2D696-1218-6C61-CB82-AF879AE8E759}"/>
              </a:ext>
            </a:extLst>
          </p:cNvPr>
          <p:cNvSpPr txBox="1"/>
          <p:nvPr/>
        </p:nvSpPr>
        <p:spPr>
          <a:xfrm>
            <a:off x="898117" y="1102354"/>
            <a:ext cx="5722271" cy="486247"/>
          </a:xfrm>
          <a:prstGeom prst="rect">
            <a:avLst/>
          </a:prstGeom>
          <a:noFill/>
          <a:ln>
            <a:noFill/>
          </a:ln>
        </p:spPr>
        <p:txBody>
          <a:bodyPr spcFirstLastPara="1" wrap="square" lIns="91425" tIns="45700" rIns="91425" bIns="45700" anchor="t" anchorCtr="0">
            <a:spAutoFit/>
          </a:bodyPr>
          <a:lstStyle/>
          <a:p>
            <a:pPr marL="457200" marR="0" lvl="0" indent="-457200" algn="l" rtl="0">
              <a:lnSpc>
                <a:spcPct val="80000"/>
              </a:lnSpc>
              <a:spcBef>
                <a:spcPts val="0"/>
              </a:spcBef>
              <a:spcAft>
                <a:spcPts val="0"/>
              </a:spcAft>
              <a:buClr>
                <a:srgbClr val="FF0000"/>
              </a:buClr>
              <a:buSzPts val="3200"/>
              <a:buFont typeface="Wingdings" panose="05000000000000000000" pitchFamily="2" charset="2"/>
              <a:buChar char="Ø"/>
            </a:pPr>
            <a:r>
              <a:rPr lang="en-IN" sz="3200" b="1" dirty="0">
                <a:solidFill>
                  <a:srgbClr val="FF0000"/>
                </a:solidFill>
                <a:latin typeface="Times New Roman" panose="02020603050405020304" pitchFamily="18" charset="0"/>
                <a:ea typeface="Lato Black"/>
                <a:cs typeface="Times New Roman" panose="02020603050405020304" pitchFamily="18" charset="0"/>
                <a:sym typeface="Lato Black"/>
              </a:rPr>
              <a:t>Tables</a:t>
            </a:r>
          </a:p>
        </p:txBody>
      </p:sp>
      <p:pic>
        <p:nvPicPr>
          <p:cNvPr id="7" name="Picture 6">
            <a:extLst>
              <a:ext uri="{FF2B5EF4-FFF2-40B4-BE49-F238E27FC236}">
                <a16:creationId xmlns:a16="http://schemas.microsoft.com/office/drawing/2014/main" id="{6EAE69E4-1846-CB73-F118-E5CF169D7A3C}"/>
              </a:ext>
            </a:extLst>
          </p:cNvPr>
          <p:cNvPicPr>
            <a:picLocks noChangeAspect="1"/>
          </p:cNvPicPr>
          <p:nvPr/>
        </p:nvPicPr>
        <p:blipFill>
          <a:blip r:embed="rId2"/>
          <a:stretch>
            <a:fillRect/>
          </a:stretch>
        </p:blipFill>
        <p:spPr>
          <a:xfrm>
            <a:off x="710733" y="2548068"/>
            <a:ext cx="4122777" cy="1920406"/>
          </a:xfrm>
          <a:prstGeom prst="rect">
            <a:avLst/>
          </a:prstGeom>
        </p:spPr>
      </p:pic>
      <p:pic>
        <p:nvPicPr>
          <p:cNvPr id="10" name="Picture 9">
            <a:extLst>
              <a:ext uri="{FF2B5EF4-FFF2-40B4-BE49-F238E27FC236}">
                <a16:creationId xmlns:a16="http://schemas.microsoft.com/office/drawing/2014/main" id="{7C19D93A-22A8-721F-2BEC-652E214AC04D}"/>
              </a:ext>
            </a:extLst>
          </p:cNvPr>
          <p:cNvPicPr>
            <a:picLocks noChangeAspect="1"/>
          </p:cNvPicPr>
          <p:nvPr/>
        </p:nvPicPr>
        <p:blipFill>
          <a:blip r:embed="rId3"/>
          <a:stretch>
            <a:fillRect/>
          </a:stretch>
        </p:blipFill>
        <p:spPr>
          <a:xfrm>
            <a:off x="6292268" y="2562300"/>
            <a:ext cx="3977985" cy="1981372"/>
          </a:xfrm>
          <a:prstGeom prst="rect">
            <a:avLst/>
          </a:prstGeom>
        </p:spPr>
      </p:pic>
    </p:spTree>
    <p:extLst>
      <p:ext uri="{BB962C8B-B14F-4D97-AF65-F5344CB8AC3E}">
        <p14:creationId xmlns:p14="http://schemas.microsoft.com/office/powerpoint/2010/main" val="657801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E7332EE-62AE-5AB1-AB76-A558A46B536E}"/>
            </a:ext>
          </a:extLst>
        </p:cNvPr>
        <p:cNvGrpSpPr/>
        <p:nvPr/>
      </p:nvGrpSpPr>
      <p:grpSpPr>
        <a:xfrm>
          <a:off x="0" y="0"/>
          <a:ext cx="0" cy="0"/>
          <a:chOff x="0" y="0"/>
          <a:chExt cx="0" cy="0"/>
        </a:xfrm>
      </p:grpSpPr>
      <p:sp>
        <p:nvSpPr>
          <p:cNvPr id="2" name="Google Shape;105;p3">
            <a:extLst>
              <a:ext uri="{FF2B5EF4-FFF2-40B4-BE49-F238E27FC236}">
                <a16:creationId xmlns:a16="http://schemas.microsoft.com/office/drawing/2014/main" id="{56A8EF82-10C5-1B11-49BC-EACC1BCDF649}"/>
              </a:ext>
            </a:extLst>
          </p:cNvPr>
          <p:cNvSpPr txBox="1"/>
          <p:nvPr/>
        </p:nvSpPr>
        <p:spPr>
          <a:xfrm>
            <a:off x="549774" y="597256"/>
            <a:ext cx="5722271" cy="880201"/>
          </a:xfrm>
          <a:prstGeom prst="rect">
            <a:avLst/>
          </a:prstGeom>
          <a:noFill/>
          <a:ln>
            <a:noFill/>
          </a:ln>
        </p:spPr>
        <p:txBody>
          <a:bodyPr spcFirstLastPara="1" wrap="square" lIns="91425" tIns="45700" rIns="91425" bIns="45700" anchor="t" anchorCtr="0">
            <a:spAutoFit/>
          </a:bodyPr>
          <a:lstStyle/>
          <a:p>
            <a:pPr marL="457200" marR="0" lvl="0" indent="-457200" algn="l" rtl="0">
              <a:lnSpc>
                <a:spcPct val="80000"/>
              </a:lnSpc>
              <a:spcBef>
                <a:spcPts val="0"/>
              </a:spcBef>
              <a:spcAft>
                <a:spcPts val="0"/>
              </a:spcAft>
              <a:buClr>
                <a:srgbClr val="FF0000"/>
              </a:buClr>
              <a:buSzPts val="3200"/>
              <a:buFont typeface="Wingdings" panose="05000000000000000000" pitchFamily="2" charset="2"/>
              <a:buChar char="Ø"/>
            </a:pPr>
            <a:r>
              <a:rPr lang="en-IN" sz="3200" b="1" dirty="0">
                <a:solidFill>
                  <a:srgbClr val="FF0000"/>
                </a:solidFill>
                <a:latin typeface="Times New Roman" panose="02020603050405020304" pitchFamily="18" charset="0"/>
                <a:ea typeface="Lato Black"/>
                <a:cs typeface="Times New Roman" panose="02020603050405020304" pitchFamily="18" charset="0"/>
                <a:sym typeface="Lato Black"/>
              </a:rPr>
              <a:t>ER Diagram and Schema Explanation</a:t>
            </a:r>
          </a:p>
        </p:txBody>
      </p:sp>
      <p:pic>
        <p:nvPicPr>
          <p:cNvPr id="7" name="Picture 6">
            <a:extLst>
              <a:ext uri="{FF2B5EF4-FFF2-40B4-BE49-F238E27FC236}">
                <a16:creationId xmlns:a16="http://schemas.microsoft.com/office/drawing/2014/main" id="{50861366-8C78-BD35-9979-8B427F9DD20E}"/>
              </a:ext>
            </a:extLst>
          </p:cNvPr>
          <p:cNvPicPr>
            <a:picLocks noChangeAspect="1"/>
          </p:cNvPicPr>
          <p:nvPr/>
        </p:nvPicPr>
        <p:blipFill>
          <a:blip r:embed="rId2"/>
          <a:stretch>
            <a:fillRect/>
          </a:stretch>
        </p:blipFill>
        <p:spPr>
          <a:xfrm>
            <a:off x="2447109" y="1628503"/>
            <a:ext cx="7437120" cy="4650377"/>
          </a:xfrm>
          <a:prstGeom prst="rect">
            <a:avLst/>
          </a:prstGeom>
        </p:spPr>
      </p:pic>
    </p:spTree>
    <p:extLst>
      <p:ext uri="{BB962C8B-B14F-4D97-AF65-F5344CB8AC3E}">
        <p14:creationId xmlns:p14="http://schemas.microsoft.com/office/powerpoint/2010/main" val="1998130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F188649-8683-964D-B208-34AC093595C5}"/>
            </a:ext>
          </a:extLst>
        </p:cNvPr>
        <p:cNvGrpSpPr/>
        <p:nvPr/>
      </p:nvGrpSpPr>
      <p:grpSpPr>
        <a:xfrm>
          <a:off x="0" y="0"/>
          <a:ext cx="0" cy="0"/>
          <a:chOff x="0" y="0"/>
          <a:chExt cx="0" cy="0"/>
        </a:xfrm>
      </p:grpSpPr>
      <p:sp>
        <p:nvSpPr>
          <p:cNvPr id="2" name="Google Shape;105;p3">
            <a:extLst>
              <a:ext uri="{FF2B5EF4-FFF2-40B4-BE49-F238E27FC236}">
                <a16:creationId xmlns:a16="http://schemas.microsoft.com/office/drawing/2014/main" id="{C195F6D7-9875-365F-4F5C-4F5543474E65}"/>
              </a:ext>
            </a:extLst>
          </p:cNvPr>
          <p:cNvSpPr txBox="1"/>
          <p:nvPr/>
        </p:nvSpPr>
        <p:spPr>
          <a:xfrm>
            <a:off x="549774" y="597256"/>
            <a:ext cx="5722271" cy="486247"/>
          </a:xfrm>
          <a:prstGeom prst="rect">
            <a:avLst/>
          </a:prstGeom>
          <a:noFill/>
          <a:ln>
            <a:noFill/>
          </a:ln>
        </p:spPr>
        <p:txBody>
          <a:bodyPr spcFirstLastPara="1" wrap="square" lIns="91425" tIns="45700" rIns="91425" bIns="45700" anchor="t" anchorCtr="0">
            <a:spAutoFit/>
          </a:bodyPr>
          <a:lstStyle/>
          <a:p>
            <a:pPr marL="457200" marR="0" lvl="0" indent="-457200" algn="l" rtl="0">
              <a:lnSpc>
                <a:spcPct val="80000"/>
              </a:lnSpc>
              <a:spcBef>
                <a:spcPts val="0"/>
              </a:spcBef>
              <a:spcAft>
                <a:spcPts val="0"/>
              </a:spcAft>
              <a:buClr>
                <a:srgbClr val="FF0000"/>
              </a:buClr>
              <a:buSzPts val="3200"/>
              <a:buFont typeface="Wingdings" panose="05000000000000000000" pitchFamily="2" charset="2"/>
              <a:buChar char="Ø"/>
            </a:pPr>
            <a:r>
              <a:rPr lang="en-IN" sz="3200" b="1" dirty="0">
                <a:solidFill>
                  <a:srgbClr val="FF0000"/>
                </a:solidFill>
                <a:latin typeface="Times New Roman" panose="02020603050405020304" pitchFamily="18" charset="0"/>
                <a:ea typeface="Lato Black"/>
                <a:cs typeface="Times New Roman" panose="02020603050405020304" pitchFamily="18" charset="0"/>
                <a:sym typeface="Lato Black"/>
              </a:rPr>
              <a:t>Queries</a:t>
            </a:r>
          </a:p>
        </p:txBody>
      </p:sp>
      <p:sp>
        <p:nvSpPr>
          <p:cNvPr id="3" name="Text Placeholder 2">
            <a:extLst>
              <a:ext uri="{FF2B5EF4-FFF2-40B4-BE49-F238E27FC236}">
                <a16:creationId xmlns:a16="http://schemas.microsoft.com/office/drawing/2014/main" id="{2BC3D764-E917-EEB5-8BDC-8ADB29C148D2}"/>
              </a:ext>
            </a:extLst>
          </p:cNvPr>
          <p:cNvSpPr>
            <a:spLocks noGrp="1"/>
          </p:cNvSpPr>
          <p:nvPr>
            <p:ph type="body" idx="1"/>
          </p:nvPr>
        </p:nvSpPr>
        <p:spPr>
          <a:xfrm>
            <a:off x="418011" y="1259590"/>
            <a:ext cx="11503056" cy="5240868"/>
          </a:xfrm>
        </p:spPr>
        <p:txBody>
          <a:bodyPr>
            <a:normAutofit/>
          </a:bodyPr>
          <a:lstStyle/>
          <a:p>
            <a:pPr marL="114300" indent="0">
              <a:buNone/>
            </a:pPr>
            <a:r>
              <a:rPr lang="en-US" sz="2400" dirty="0">
                <a:solidFill>
                  <a:srgbClr val="FF0000"/>
                </a:solidFill>
              </a:rPr>
              <a:t>1.What is the total emission per country for the most recent year available</a:t>
            </a:r>
            <a:r>
              <a:rPr lang="en-US" dirty="0">
                <a:solidFill>
                  <a:srgbClr val="FF0000"/>
                </a:solidFill>
              </a:rPr>
              <a:t>?</a:t>
            </a:r>
          </a:p>
          <a:p>
            <a:pPr marL="114300" indent="0">
              <a:buNone/>
            </a:pPr>
            <a:r>
              <a:rPr lang="en-IN" dirty="0"/>
              <a:t>                                                                              </a:t>
            </a:r>
          </a:p>
          <a:p>
            <a:pPr marL="114300" indent="0">
              <a:buNone/>
            </a:pPr>
            <a:endParaRPr lang="en-IN" dirty="0"/>
          </a:p>
          <a:p>
            <a:pPr marL="114300" indent="0">
              <a:buNone/>
            </a:pPr>
            <a:endParaRPr lang="en-IN" dirty="0"/>
          </a:p>
          <a:p>
            <a:pPr marL="114300" indent="0">
              <a:buNone/>
            </a:pPr>
            <a:endParaRPr lang="en-IN" dirty="0"/>
          </a:p>
          <a:p>
            <a:pPr marL="114300" indent="0">
              <a:buNone/>
            </a:pPr>
            <a:endParaRPr lang="en-IN" dirty="0"/>
          </a:p>
          <a:p>
            <a:pPr marL="114300" indent="0">
              <a:buNone/>
            </a:pPr>
            <a:r>
              <a:rPr lang="en-US" dirty="0">
                <a:solidFill>
                  <a:srgbClr val="FF0000"/>
                </a:solidFill>
              </a:rPr>
              <a:t>Insights:</a:t>
            </a:r>
          </a:p>
          <a:p>
            <a:pPr marL="114300" indent="0">
              <a:buNone/>
            </a:pPr>
            <a:r>
              <a:rPr lang="en-US" sz="2400" dirty="0"/>
              <a:t>This analysis identifies the total emissions generated by each country in the latest available year.It helps compare countries based on their overall emission levels,   excluding the already calculated total CO₂ row to avoid double-counting.</a:t>
            </a:r>
            <a:endParaRPr lang="en-IN" sz="2400" dirty="0"/>
          </a:p>
        </p:txBody>
      </p:sp>
      <p:pic>
        <p:nvPicPr>
          <p:cNvPr id="5" name="Picture 4">
            <a:extLst>
              <a:ext uri="{FF2B5EF4-FFF2-40B4-BE49-F238E27FC236}">
                <a16:creationId xmlns:a16="http://schemas.microsoft.com/office/drawing/2014/main" id="{EFBD6747-3734-608C-3187-23051D6DD662}"/>
              </a:ext>
            </a:extLst>
          </p:cNvPr>
          <p:cNvPicPr>
            <a:picLocks noChangeAspect="1"/>
          </p:cNvPicPr>
          <p:nvPr/>
        </p:nvPicPr>
        <p:blipFill>
          <a:blip r:embed="rId2"/>
          <a:stretch>
            <a:fillRect/>
          </a:stretch>
        </p:blipFill>
        <p:spPr>
          <a:xfrm>
            <a:off x="1368686" y="1941225"/>
            <a:ext cx="5223934" cy="2480733"/>
          </a:xfrm>
          <a:prstGeom prst="rect">
            <a:avLst/>
          </a:prstGeom>
        </p:spPr>
      </p:pic>
      <p:pic>
        <p:nvPicPr>
          <p:cNvPr id="9" name="Picture 8">
            <a:extLst>
              <a:ext uri="{FF2B5EF4-FFF2-40B4-BE49-F238E27FC236}">
                <a16:creationId xmlns:a16="http://schemas.microsoft.com/office/drawing/2014/main" id="{022D3BE3-9073-F205-7E81-CB477ECEAAC5}"/>
              </a:ext>
            </a:extLst>
          </p:cNvPr>
          <p:cNvPicPr>
            <a:picLocks noChangeAspect="1"/>
          </p:cNvPicPr>
          <p:nvPr/>
        </p:nvPicPr>
        <p:blipFill>
          <a:blip r:embed="rId3"/>
          <a:stretch>
            <a:fillRect/>
          </a:stretch>
        </p:blipFill>
        <p:spPr>
          <a:xfrm>
            <a:off x="6877569" y="2029059"/>
            <a:ext cx="3776134" cy="2590271"/>
          </a:xfrm>
          <a:prstGeom prst="rect">
            <a:avLst/>
          </a:prstGeom>
        </p:spPr>
      </p:pic>
    </p:spTree>
    <p:extLst>
      <p:ext uri="{BB962C8B-B14F-4D97-AF65-F5344CB8AC3E}">
        <p14:creationId xmlns:p14="http://schemas.microsoft.com/office/powerpoint/2010/main" val="2986065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2E029D7-D6B3-9937-E083-1AAC99332700}"/>
            </a:ext>
          </a:extLst>
        </p:cNvPr>
        <p:cNvGrpSpPr/>
        <p:nvPr/>
      </p:nvGrpSpPr>
      <p:grpSpPr>
        <a:xfrm>
          <a:off x="0" y="0"/>
          <a:ext cx="0" cy="0"/>
          <a:chOff x="0" y="0"/>
          <a:chExt cx="0" cy="0"/>
        </a:xfrm>
      </p:grpSpPr>
      <p:sp>
        <p:nvSpPr>
          <p:cNvPr id="2" name="Google Shape;105;p3">
            <a:extLst>
              <a:ext uri="{FF2B5EF4-FFF2-40B4-BE49-F238E27FC236}">
                <a16:creationId xmlns:a16="http://schemas.microsoft.com/office/drawing/2014/main" id="{9271E4F7-2A5F-E00A-6408-CD1370CB2425}"/>
              </a:ext>
            </a:extLst>
          </p:cNvPr>
          <p:cNvSpPr txBox="1"/>
          <p:nvPr/>
        </p:nvSpPr>
        <p:spPr>
          <a:xfrm>
            <a:off x="549774" y="597256"/>
            <a:ext cx="5722271" cy="486247"/>
          </a:xfrm>
          <a:prstGeom prst="rect">
            <a:avLst/>
          </a:prstGeom>
          <a:noFill/>
          <a:ln>
            <a:noFill/>
          </a:ln>
        </p:spPr>
        <p:txBody>
          <a:bodyPr spcFirstLastPara="1" wrap="square" lIns="91425" tIns="45700" rIns="91425" bIns="45700" anchor="t" anchorCtr="0">
            <a:spAutoFit/>
          </a:bodyPr>
          <a:lstStyle/>
          <a:p>
            <a:pPr marL="457200" marR="0" lvl="0" indent="-457200" algn="l" rtl="0">
              <a:lnSpc>
                <a:spcPct val="80000"/>
              </a:lnSpc>
              <a:spcBef>
                <a:spcPts val="0"/>
              </a:spcBef>
              <a:spcAft>
                <a:spcPts val="0"/>
              </a:spcAft>
              <a:buClr>
                <a:srgbClr val="FF0000"/>
              </a:buClr>
              <a:buSzPts val="3200"/>
              <a:buFont typeface="Wingdings" panose="05000000000000000000" pitchFamily="2" charset="2"/>
              <a:buChar char="Ø"/>
            </a:pPr>
            <a:r>
              <a:rPr lang="en-IN" sz="3200" b="1" dirty="0">
                <a:solidFill>
                  <a:srgbClr val="FF0000"/>
                </a:solidFill>
                <a:latin typeface="Times New Roman" panose="02020603050405020304" pitchFamily="18" charset="0"/>
                <a:ea typeface="Lato Black"/>
                <a:cs typeface="Times New Roman" panose="02020603050405020304" pitchFamily="18" charset="0"/>
                <a:sym typeface="Lato Black"/>
              </a:rPr>
              <a:t>Queries</a:t>
            </a:r>
          </a:p>
        </p:txBody>
      </p:sp>
      <p:sp>
        <p:nvSpPr>
          <p:cNvPr id="3" name="Text Placeholder 2">
            <a:extLst>
              <a:ext uri="{FF2B5EF4-FFF2-40B4-BE49-F238E27FC236}">
                <a16:creationId xmlns:a16="http://schemas.microsoft.com/office/drawing/2014/main" id="{A98522B5-2056-450E-1F05-E04F092BFC41}"/>
              </a:ext>
            </a:extLst>
          </p:cNvPr>
          <p:cNvSpPr>
            <a:spLocks noGrp="1"/>
          </p:cNvSpPr>
          <p:nvPr>
            <p:ph type="body" idx="1"/>
          </p:nvPr>
        </p:nvSpPr>
        <p:spPr>
          <a:xfrm>
            <a:off x="418011" y="1244600"/>
            <a:ext cx="11503056" cy="5240868"/>
          </a:xfrm>
        </p:spPr>
        <p:txBody>
          <a:bodyPr>
            <a:normAutofit/>
          </a:bodyPr>
          <a:lstStyle/>
          <a:p>
            <a:pPr marL="114300" indent="0">
              <a:buNone/>
            </a:pPr>
            <a:r>
              <a:rPr lang="en-US" sz="2400" dirty="0">
                <a:solidFill>
                  <a:srgbClr val="FF0000"/>
                </a:solidFill>
              </a:rPr>
              <a:t>2. What are the top 5 countries by GDP in the most recent year</a:t>
            </a:r>
            <a:r>
              <a:rPr lang="en-US" dirty="0">
                <a:solidFill>
                  <a:srgbClr val="FF0000"/>
                </a:solidFill>
              </a:rPr>
              <a:t>?</a:t>
            </a:r>
            <a:r>
              <a:rPr lang="en-IN" dirty="0"/>
              <a:t>                                                                              </a:t>
            </a:r>
          </a:p>
          <a:p>
            <a:pPr marL="114300" indent="0">
              <a:buNone/>
            </a:pPr>
            <a:endParaRPr lang="en-IN" dirty="0"/>
          </a:p>
          <a:p>
            <a:pPr marL="114300" indent="0">
              <a:buNone/>
            </a:pPr>
            <a:endParaRPr lang="en-IN" dirty="0"/>
          </a:p>
          <a:p>
            <a:pPr marL="114300" indent="0">
              <a:buNone/>
            </a:pPr>
            <a:endParaRPr lang="en-IN" dirty="0"/>
          </a:p>
          <a:p>
            <a:pPr marL="114300" indent="0">
              <a:buNone/>
            </a:pPr>
            <a:endParaRPr lang="en-IN" dirty="0"/>
          </a:p>
          <a:p>
            <a:pPr marL="114300" indent="0">
              <a:buNone/>
            </a:pPr>
            <a:endParaRPr lang="en-IN" dirty="0"/>
          </a:p>
          <a:p>
            <a:pPr marL="114300" indent="0">
              <a:buNone/>
            </a:pPr>
            <a:endParaRPr lang="en-US" sz="2400" dirty="0"/>
          </a:p>
          <a:p>
            <a:pPr marL="114300" indent="0">
              <a:buNone/>
            </a:pPr>
            <a:r>
              <a:rPr lang="en-US" dirty="0">
                <a:solidFill>
                  <a:srgbClr val="FF0000"/>
                </a:solidFill>
              </a:rPr>
              <a:t>Insights:</a:t>
            </a:r>
          </a:p>
          <a:p>
            <a:pPr marL="114300" indent="0">
              <a:buNone/>
            </a:pPr>
            <a:r>
              <a:rPr lang="en-US" sz="2400" dirty="0"/>
              <a:t>This identifies the five countries with the highest GDP in the latest available year. It gives an overview of the largest economies represented in the dataset.</a:t>
            </a:r>
            <a:endParaRPr lang="en-IN" sz="2400" dirty="0"/>
          </a:p>
        </p:txBody>
      </p:sp>
      <p:pic>
        <p:nvPicPr>
          <p:cNvPr id="11" name="Picture 10">
            <a:extLst>
              <a:ext uri="{FF2B5EF4-FFF2-40B4-BE49-F238E27FC236}">
                <a16:creationId xmlns:a16="http://schemas.microsoft.com/office/drawing/2014/main" id="{6E266A76-17DC-9060-EAB0-5BC45A540B93}"/>
              </a:ext>
            </a:extLst>
          </p:cNvPr>
          <p:cNvPicPr>
            <a:picLocks noChangeAspect="1"/>
          </p:cNvPicPr>
          <p:nvPr/>
        </p:nvPicPr>
        <p:blipFill>
          <a:blip r:embed="rId2"/>
          <a:stretch>
            <a:fillRect/>
          </a:stretch>
        </p:blipFill>
        <p:spPr>
          <a:xfrm>
            <a:off x="722999" y="2285765"/>
            <a:ext cx="5808133" cy="2128838"/>
          </a:xfrm>
          <a:prstGeom prst="rect">
            <a:avLst/>
          </a:prstGeom>
        </p:spPr>
      </p:pic>
      <p:pic>
        <p:nvPicPr>
          <p:cNvPr id="13" name="Picture 12">
            <a:extLst>
              <a:ext uri="{FF2B5EF4-FFF2-40B4-BE49-F238E27FC236}">
                <a16:creationId xmlns:a16="http://schemas.microsoft.com/office/drawing/2014/main" id="{90EA2AF6-FD97-68C5-5D85-ED18B0DE78C4}"/>
              </a:ext>
            </a:extLst>
          </p:cNvPr>
          <p:cNvPicPr>
            <a:picLocks noChangeAspect="1"/>
          </p:cNvPicPr>
          <p:nvPr/>
        </p:nvPicPr>
        <p:blipFill>
          <a:blip r:embed="rId3"/>
          <a:stretch>
            <a:fillRect/>
          </a:stretch>
        </p:blipFill>
        <p:spPr>
          <a:xfrm>
            <a:off x="7035800" y="2455334"/>
            <a:ext cx="3928532" cy="2150534"/>
          </a:xfrm>
          <a:prstGeom prst="rect">
            <a:avLst/>
          </a:prstGeom>
        </p:spPr>
      </p:pic>
    </p:spTree>
    <p:extLst>
      <p:ext uri="{BB962C8B-B14F-4D97-AF65-F5344CB8AC3E}">
        <p14:creationId xmlns:p14="http://schemas.microsoft.com/office/powerpoint/2010/main" val="580148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C4DB3E3-962F-A891-9EC3-95C6AC13052A}"/>
            </a:ext>
          </a:extLst>
        </p:cNvPr>
        <p:cNvGrpSpPr/>
        <p:nvPr/>
      </p:nvGrpSpPr>
      <p:grpSpPr>
        <a:xfrm>
          <a:off x="0" y="0"/>
          <a:ext cx="0" cy="0"/>
          <a:chOff x="0" y="0"/>
          <a:chExt cx="0" cy="0"/>
        </a:xfrm>
      </p:grpSpPr>
      <p:sp>
        <p:nvSpPr>
          <p:cNvPr id="2" name="Google Shape;105;p3">
            <a:extLst>
              <a:ext uri="{FF2B5EF4-FFF2-40B4-BE49-F238E27FC236}">
                <a16:creationId xmlns:a16="http://schemas.microsoft.com/office/drawing/2014/main" id="{0D76C61F-4ECC-719D-AD13-4261F03A7164}"/>
              </a:ext>
            </a:extLst>
          </p:cNvPr>
          <p:cNvSpPr txBox="1"/>
          <p:nvPr/>
        </p:nvSpPr>
        <p:spPr>
          <a:xfrm>
            <a:off x="549774" y="597256"/>
            <a:ext cx="5722271" cy="486247"/>
          </a:xfrm>
          <a:prstGeom prst="rect">
            <a:avLst/>
          </a:prstGeom>
          <a:noFill/>
          <a:ln>
            <a:noFill/>
          </a:ln>
        </p:spPr>
        <p:txBody>
          <a:bodyPr spcFirstLastPara="1" wrap="square" lIns="91425" tIns="45700" rIns="91425" bIns="45700" anchor="t" anchorCtr="0">
            <a:spAutoFit/>
          </a:bodyPr>
          <a:lstStyle/>
          <a:p>
            <a:pPr marL="457200" marR="0" lvl="0" indent="-457200" algn="l" rtl="0">
              <a:lnSpc>
                <a:spcPct val="80000"/>
              </a:lnSpc>
              <a:spcBef>
                <a:spcPts val="0"/>
              </a:spcBef>
              <a:spcAft>
                <a:spcPts val="0"/>
              </a:spcAft>
              <a:buClr>
                <a:srgbClr val="FF0000"/>
              </a:buClr>
              <a:buSzPts val="3200"/>
              <a:buFont typeface="Wingdings" panose="05000000000000000000" pitchFamily="2" charset="2"/>
              <a:buChar char="Ø"/>
            </a:pPr>
            <a:r>
              <a:rPr lang="en-IN" sz="3200" b="1" dirty="0">
                <a:solidFill>
                  <a:srgbClr val="FF0000"/>
                </a:solidFill>
                <a:latin typeface="Times New Roman" panose="02020603050405020304" pitchFamily="18" charset="0"/>
                <a:ea typeface="Lato Black"/>
                <a:cs typeface="Times New Roman" panose="02020603050405020304" pitchFamily="18" charset="0"/>
                <a:sym typeface="Lato Black"/>
              </a:rPr>
              <a:t>Queries</a:t>
            </a:r>
          </a:p>
        </p:txBody>
      </p:sp>
      <p:sp>
        <p:nvSpPr>
          <p:cNvPr id="3" name="Text Placeholder 2">
            <a:extLst>
              <a:ext uri="{FF2B5EF4-FFF2-40B4-BE49-F238E27FC236}">
                <a16:creationId xmlns:a16="http://schemas.microsoft.com/office/drawing/2014/main" id="{5D704AE3-C82F-3161-FB04-6794278AC891}"/>
              </a:ext>
            </a:extLst>
          </p:cNvPr>
          <p:cNvSpPr>
            <a:spLocks noGrp="1"/>
          </p:cNvSpPr>
          <p:nvPr>
            <p:ph type="body" idx="1"/>
          </p:nvPr>
        </p:nvSpPr>
        <p:spPr>
          <a:xfrm>
            <a:off x="418011" y="1244600"/>
            <a:ext cx="11503056" cy="5240868"/>
          </a:xfrm>
        </p:spPr>
        <p:txBody>
          <a:bodyPr>
            <a:normAutofit/>
          </a:bodyPr>
          <a:lstStyle/>
          <a:p>
            <a:pPr marL="114300" indent="0">
              <a:buNone/>
            </a:pPr>
            <a:r>
              <a:rPr lang="en-US" sz="2400" dirty="0">
                <a:solidFill>
                  <a:srgbClr val="FF0000"/>
                </a:solidFill>
              </a:rPr>
              <a:t>3. Which energy types contribute most to emissions across all countries</a:t>
            </a:r>
            <a:r>
              <a:rPr lang="en-US" dirty="0">
                <a:solidFill>
                  <a:srgbClr val="FF0000"/>
                </a:solidFill>
              </a:rPr>
              <a:t>?</a:t>
            </a:r>
            <a:r>
              <a:rPr lang="en-IN" dirty="0"/>
              <a:t>                                                                              </a:t>
            </a:r>
          </a:p>
          <a:p>
            <a:pPr marL="114300" indent="0">
              <a:buNone/>
            </a:pPr>
            <a:endParaRPr lang="en-IN" dirty="0"/>
          </a:p>
          <a:p>
            <a:pPr marL="114300" indent="0">
              <a:buNone/>
            </a:pPr>
            <a:endParaRPr lang="en-IN" dirty="0"/>
          </a:p>
          <a:p>
            <a:pPr marL="114300" indent="0">
              <a:buNone/>
            </a:pPr>
            <a:endParaRPr lang="en-IN" dirty="0"/>
          </a:p>
          <a:p>
            <a:pPr marL="114300" indent="0">
              <a:buNone/>
            </a:pPr>
            <a:endParaRPr lang="en-IN" dirty="0"/>
          </a:p>
          <a:p>
            <a:pPr marL="114300" indent="0">
              <a:buNone/>
            </a:pPr>
            <a:endParaRPr lang="en-IN" dirty="0"/>
          </a:p>
          <a:p>
            <a:pPr marL="114300" indent="0">
              <a:buNone/>
            </a:pPr>
            <a:endParaRPr lang="en-US" sz="2400" dirty="0"/>
          </a:p>
          <a:p>
            <a:pPr marL="114300" indent="0">
              <a:buNone/>
            </a:pPr>
            <a:endParaRPr lang="en-US" sz="2400" dirty="0"/>
          </a:p>
          <a:p>
            <a:pPr marL="114300" indent="0">
              <a:buNone/>
            </a:pPr>
            <a:r>
              <a:rPr lang="en-US" dirty="0">
                <a:solidFill>
                  <a:srgbClr val="FF0000"/>
                </a:solidFill>
              </a:rPr>
              <a:t>Insights:</a:t>
            </a:r>
          </a:p>
          <a:p>
            <a:pPr marL="114300" indent="0">
              <a:buNone/>
            </a:pPr>
            <a:r>
              <a:rPr lang="en-US" sz="2400" dirty="0">
                <a:solidFill>
                  <a:schemeClr val="tx1"/>
                </a:solidFill>
              </a:rPr>
              <a:t>This measures what energy types contributed to the most of the emissions.</a:t>
            </a:r>
          </a:p>
        </p:txBody>
      </p:sp>
      <p:pic>
        <p:nvPicPr>
          <p:cNvPr id="5" name="Picture 4">
            <a:extLst>
              <a:ext uri="{FF2B5EF4-FFF2-40B4-BE49-F238E27FC236}">
                <a16:creationId xmlns:a16="http://schemas.microsoft.com/office/drawing/2014/main" id="{1AE9F707-F6D1-5B95-C26E-3B3C8D023C6C}"/>
              </a:ext>
            </a:extLst>
          </p:cNvPr>
          <p:cNvPicPr>
            <a:picLocks noChangeAspect="1"/>
          </p:cNvPicPr>
          <p:nvPr/>
        </p:nvPicPr>
        <p:blipFill>
          <a:blip r:embed="rId2"/>
          <a:stretch>
            <a:fillRect/>
          </a:stretch>
        </p:blipFill>
        <p:spPr>
          <a:xfrm>
            <a:off x="1055840" y="2279472"/>
            <a:ext cx="5577308" cy="2592332"/>
          </a:xfrm>
          <a:prstGeom prst="rect">
            <a:avLst/>
          </a:prstGeom>
        </p:spPr>
      </p:pic>
      <p:pic>
        <p:nvPicPr>
          <p:cNvPr id="7" name="Picture 6">
            <a:extLst>
              <a:ext uri="{FF2B5EF4-FFF2-40B4-BE49-F238E27FC236}">
                <a16:creationId xmlns:a16="http://schemas.microsoft.com/office/drawing/2014/main" id="{87AA9055-0993-03D2-E7C4-494DB2646AF5}"/>
              </a:ext>
            </a:extLst>
          </p:cNvPr>
          <p:cNvPicPr>
            <a:picLocks noChangeAspect="1"/>
          </p:cNvPicPr>
          <p:nvPr/>
        </p:nvPicPr>
        <p:blipFill>
          <a:blip r:embed="rId3"/>
          <a:stretch>
            <a:fillRect/>
          </a:stretch>
        </p:blipFill>
        <p:spPr>
          <a:xfrm>
            <a:off x="7248468" y="2755773"/>
            <a:ext cx="4277033" cy="1329047"/>
          </a:xfrm>
          <a:prstGeom prst="rect">
            <a:avLst/>
          </a:prstGeom>
        </p:spPr>
      </p:pic>
    </p:spTree>
    <p:extLst>
      <p:ext uri="{BB962C8B-B14F-4D97-AF65-F5344CB8AC3E}">
        <p14:creationId xmlns:p14="http://schemas.microsoft.com/office/powerpoint/2010/main" val="3040093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C1EC9D5-C7F9-E8B3-6BFF-03016C6969B0}"/>
            </a:ext>
          </a:extLst>
        </p:cNvPr>
        <p:cNvGrpSpPr/>
        <p:nvPr/>
      </p:nvGrpSpPr>
      <p:grpSpPr>
        <a:xfrm>
          <a:off x="0" y="0"/>
          <a:ext cx="0" cy="0"/>
          <a:chOff x="0" y="0"/>
          <a:chExt cx="0" cy="0"/>
        </a:xfrm>
      </p:grpSpPr>
      <p:sp>
        <p:nvSpPr>
          <p:cNvPr id="2" name="Google Shape;105;p3">
            <a:extLst>
              <a:ext uri="{FF2B5EF4-FFF2-40B4-BE49-F238E27FC236}">
                <a16:creationId xmlns:a16="http://schemas.microsoft.com/office/drawing/2014/main" id="{F0A5E19F-6B33-4B64-4368-3A8CB6361D6A}"/>
              </a:ext>
            </a:extLst>
          </p:cNvPr>
          <p:cNvSpPr txBox="1"/>
          <p:nvPr/>
        </p:nvSpPr>
        <p:spPr>
          <a:xfrm>
            <a:off x="549774" y="597256"/>
            <a:ext cx="5722271" cy="486247"/>
          </a:xfrm>
          <a:prstGeom prst="rect">
            <a:avLst/>
          </a:prstGeom>
          <a:noFill/>
          <a:ln>
            <a:noFill/>
          </a:ln>
        </p:spPr>
        <p:txBody>
          <a:bodyPr spcFirstLastPara="1" wrap="square" lIns="91425" tIns="45700" rIns="91425" bIns="45700" anchor="t" anchorCtr="0">
            <a:spAutoFit/>
          </a:bodyPr>
          <a:lstStyle/>
          <a:p>
            <a:pPr marL="457200" marR="0" lvl="0" indent="-457200" algn="l" rtl="0">
              <a:lnSpc>
                <a:spcPct val="80000"/>
              </a:lnSpc>
              <a:spcBef>
                <a:spcPts val="0"/>
              </a:spcBef>
              <a:spcAft>
                <a:spcPts val="0"/>
              </a:spcAft>
              <a:buClr>
                <a:srgbClr val="FF0000"/>
              </a:buClr>
              <a:buSzPts val="3200"/>
              <a:buFont typeface="Wingdings" panose="05000000000000000000" pitchFamily="2" charset="2"/>
              <a:buChar char="Ø"/>
            </a:pPr>
            <a:r>
              <a:rPr lang="en-IN" sz="3200" b="1" dirty="0">
                <a:solidFill>
                  <a:srgbClr val="FF0000"/>
                </a:solidFill>
                <a:latin typeface="Times New Roman" panose="02020603050405020304" pitchFamily="18" charset="0"/>
                <a:ea typeface="Lato Black"/>
                <a:cs typeface="Times New Roman" panose="02020603050405020304" pitchFamily="18" charset="0"/>
                <a:sym typeface="Lato Black"/>
              </a:rPr>
              <a:t>Queries</a:t>
            </a:r>
          </a:p>
        </p:txBody>
      </p:sp>
      <p:sp>
        <p:nvSpPr>
          <p:cNvPr id="3" name="Text Placeholder 2">
            <a:extLst>
              <a:ext uri="{FF2B5EF4-FFF2-40B4-BE49-F238E27FC236}">
                <a16:creationId xmlns:a16="http://schemas.microsoft.com/office/drawing/2014/main" id="{BCFA6E5E-99C8-0E0D-D018-608D04D8E3EF}"/>
              </a:ext>
            </a:extLst>
          </p:cNvPr>
          <p:cNvSpPr>
            <a:spLocks noGrp="1"/>
          </p:cNvSpPr>
          <p:nvPr>
            <p:ph type="body" idx="1"/>
          </p:nvPr>
        </p:nvSpPr>
        <p:spPr>
          <a:xfrm>
            <a:off x="418011" y="1244600"/>
            <a:ext cx="11503056" cy="5240868"/>
          </a:xfrm>
        </p:spPr>
        <p:txBody>
          <a:bodyPr>
            <a:normAutofit/>
          </a:bodyPr>
          <a:lstStyle/>
          <a:p>
            <a:pPr marL="114300" indent="0">
              <a:buNone/>
            </a:pPr>
            <a:r>
              <a:rPr lang="en-US" sz="2400" dirty="0">
                <a:solidFill>
                  <a:srgbClr val="FF0000"/>
                </a:solidFill>
              </a:rPr>
              <a:t>4.How have global emissions changed year over year</a:t>
            </a:r>
            <a:r>
              <a:rPr lang="en-US" dirty="0">
                <a:solidFill>
                  <a:srgbClr val="FF0000"/>
                </a:solidFill>
              </a:rPr>
              <a:t>?</a:t>
            </a:r>
            <a:r>
              <a:rPr lang="en-IN" dirty="0">
                <a:solidFill>
                  <a:srgbClr val="FF0000"/>
                </a:solidFill>
              </a:rPr>
              <a:t> </a:t>
            </a:r>
            <a:r>
              <a:rPr lang="en-IN" dirty="0"/>
              <a:t>                                                                             </a:t>
            </a:r>
          </a:p>
          <a:p>
            <a:pPr marL="114300" indent="0">
              <a:buNone/>
            </a:pPr>
            <a:endParaRPr lang="en-IN" dirty="0"/>
          </a:p>
          <a:p>
            <a:pPr marL="114300" indent="0">
              <a:buNone/>
            </a:pPr>
            <a:endParaRPr lang="en-IN" dirty="0"/>
          </a:p>
          <a:p>
            <a:pPr marL="114300" indent="0">
              <a:buNone/>
            </a:pPr>
            <a:endParaRPr lang="en-IN" dirty="0"/>
          </a:p>
          <a:p>
            <a:pPr marL="114300" indent="0">
              <a:buNone/>
            </a:pPr>
            <a:endParaRPr lang="en-IN" dirty="0"/>
          </a:p>
          <a:p>
            <a:pPr marL="114300" indent="0">
              <a:buNone/>
            </a:pPr>
            <a:endParaRPr lang="en-IN" dirty="0"/>
          </a:p>
          <a:p>
            <a:pPr marL="114300" indent="0">
              <a:buNone/>
            </a:pPr>
            <a:endParaRPr lang="en-US" sz="2400" dirty="0"/>
          </a:p>
          <a:p>
            <a:pPr marL="114300" indent="0">
              <a:buNone/>
            </a:pPr>
            <a:r>
              <a:rPr lang="en-US" dirty="0">
                <a:solidFill>
                  <a:srgbClr val="FF0000"/>
                </a:solidFill>
              </a:rPr>
              <a:t>Insights:</a:t>
            </a:r>
          </a:p>
          <a:p>
            <a:pPr marL="114300" indent="0">
              <a:buNone/>
            </a:pPr>
            <a:r>
              <a:rPr lang="en-US" sz="2400" dirty="0"/>
              <a:t>This analysis identifies the total emissions generated by each country in the latest available </a:t>
            </a:r>
            <a:r>
              <a:rPr lang="en-US" sz="2400" dirty="0" err="1"/>
              <a:t>year.It</a:t>
            </a:r>
            <a:r>
              <a:rPr lang="en-US" sz="2400" dirty="0"/>
              <a:t> helps compare countries based on their overall emission </a:t>
            </a:r>
            <a:r>
              <a:rPr lang="en-US" sz="2400" dirty="0" err="1"/>
              <a:t>levels,excluding</a:t>
            </a:r>
            <a:r>
              <a:rPr lang="en-US" sz="2400" dirty="0"/>
              <a:t> the already calculated total CO2 row to avoid double-counting</a:t>
            </a:r>
          </a:p>
        </p:txBody>
      </p:sp>
      <p:pic>
        <p:nvPicPr>
          <p:cNvPr id="6" name="Picture 5">
            <a:extLst>
              <a:ext uri="{FF2B5EF4-FFF2-40B4-BE49-F238E27FC236}">
                <a16:creationId xmlns:a16="http://schemas.microsoft.com/office/drawing/2014/main" id="{EBA4C26F-2F23-46C6-F589-5C28CDD2CB79}"/>
              </a:ext>
            </a:extLst>
          </p:cNvPr>
          <p:cNvPicPr>
            <a:picLocks noChangeAspect="1"/>
          </p:cNvPicPr>
          <p:nvPr/>
        </p:nvPicPr>
        <p:blipFill>
          <a:blip r:embed="rId2"/>
          <a:stretch>
            <a:fillRect/>
          </a:stretch>
        </p:blipFill>
        <p:spPr>
          <a:xfrm>
            <a:off x="780455" y="2098624"/>
            <a:ext cx="5810865" cy="2580968"/>
          </a:xfrm>
          <a:prstGeom prst="rect">
            <a:avLst/>
          </a:prstGeom>
        </p:spPr>
      </p:pic>
      <p:pic>
        <p:nvPicPr>
          <p:cNvPr id="9" name="Picture 8">
            <a:extLst>
              <a:ext uri="{FF2B5EF4-FFF2-40B4-BE49-F238E27FC236}">
                <a16:creationId xmlns:a16="http://schemas.microsoft.com/office/drawing/2014/main" id="{222D5EE7-5409-76C8-458B-49472F4C3AD0}"/>
              </a:ext>
            </a:extLst>
          </p:cNvPr>
          <p:cNvPicPr>
            <a:picLocks noChangeAspect="1"/>
          </p:cNvPicPr>
          <p:nvPr/>
        </p:nvPicPr>
        <p:blipFill>
          <a:blip r:embed="rId3"/>
          <a:stretch>
            <a:fillRect/>
          </a:stretch>
        </p:blipFill>
        <p:spPr>
          <a:xfrm>
            <a:off x="6878066" y="2719230"/>
            <a:ext cx="4822723" cy="1526612"/>
          </a:xfrm>
          <a:prstGeom prst="rect">
            <a:avLst/>
          </a:prstGeom>
        </p:spPr>
      </p:pic>
    </p:spTree>
    <p:extLst>
      <p:ext uri="{BB962C8B-B14F-4D97-AF65-F5344CB8AC3E}">
        <p14:creationId xmlns:p14="http://schemas.microsoft.com/office/powerpoint/2010/main" val="762324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8A8B645-AE04-36AD-D459-83F72A06CA0B}"/>
            </a:ext>
          </a:extLst>
        </p:cNvPr>
        <p:cNvGrpSpPr/>
        <p:nvPr/>
      </p:nvGrpSpPr>
      <p:grpSpPr>
        <a:xfrm>
          <a:off x="0" y="0"/>
          <a:ext cx="0" cy="0"/>
          <a:chOff x="0" y="0"/>
          <a:chExt cx="0" cy="0"/>
        </a:xfrm>
      </p:grpSpPr>
      <p:sp>
        <p:nvSpPr>
          <p:cNvPr id="2" name="Google Shape;105;p3">
            <a:extLst>
              <a:ext uri="{FF2B5EF4-FFF2-40B4-BE49-F238E27FC236}">
                <a16:creationId xmlns:a16="http://schemas.microsoft.com/office/drawing/2014/main" id="{C3C30540-393F-3766-16C7-6FB236A677EF}"/>
              </a:ext>
            </a:extLst>
          </p:cNvPr>
          <p:cNvSpPr txBox="1"/>
          <p:nvPr/>
        </p:nvSpPr>
        <p:spPr>
          <a:xfrm>
            <a:off x="549774" y="597256"/>
            <a:ext cx="5722271" cy="486247"/>
          </a:xfrm>
          <a:prstGeom prst="rect">
            <a:avLst/>
          </a:prstGeom>
          <a:noFill/>
          <a:ln>
            <a:noFill/>
          </a:ln>
        </p:spPr>
        <p:txBody>
          <a:bodyPr spcFirstLastPara="1" wrap="square" lIns="91425" tIns="45700" rIns="91425" bIns="45700" anchor="t" anchorCtr="0">
            <a:spAutoFit/>
          </a:bodyPr>
          <a:lstStyle/>
          <a:p>
            <a:pPr marL="457200" marR="0" lvl="0" indent="-457200" algn="l" rtl="0">
              <a:lnSpc>
                <a:spcPct val="80000"/>
              </a:lnSpc>
              <a:spcBef>
                <a:spcPts val="0"/>
              </a:spcBef>
              <a:spcAft>
                <a:spcPts val="0"/>
              </a:spcAft>
              <a:buClr>
                <a:srgbClr val="FF0000"/>
              </a:buClr>
              <a:buSzPts val="3200"/>
              <a:buFont typeface="Wingdings" panose="05000000000000000000" pitchFamily="2" charset="2"/>
              <a:buChar char="Ø"/>
            </a:pPr>
            <a:r>
              <a:rPr lang="en-IN" sz="3200" b="1" dirty="0">
                <a:solidFill>
                  <a:srgbClr val="FF0000"/>
                </a:solidFill>
                <a:latin typeface="Times New Roman" panose="02020603050405020304" pitchFamily="18" charset="0"/>
                <a:ea typeface="Lato Black"/>
                <a:cs typeface="Times New Roman" panose="02020603050405020304" pitchFamily="18" charset="0"/>
                <a:sym typeface="Lato Black"/>
              </a:rPr>
              <a:t>Queries</a:t>
            </a:r>
          </a:p>
        </p:txBody>
      </p:sp>
      <p:sp>
        <p:nvSpPr>
          <p:cNvPr id="3" name="Text Placeholder 2">
            <a:extLst>
              <a:ext uri="{FF2B5EF4-FFF2-40B4-BE49-F238E27FC236}">
                <a16:creationId xmlns:a16="http://schemas.microsoft.com/office/drawing/2014/main" id="{6984BB7D-F5ED-CE4F-A658-2B5F66EFC309}"/>
              </a:ext>
            </a:extLst>
          </p:cNvPr>
          <p:cNvSpPr>
            <a:spLocks noGrp="1"/>
          </p:cNvSpPr>
          <p:nvPr>
            <p:ph type="body" idx="1"/>
          </p:nvPr>
        </p:nvSpPr>
        <p:spPr>
          <a:xfrm>
            <a:off x="418011" y="1244600"/>
            <a:ext cx="11503056" cy="5240868"/>
          </a:xfrm>
        </p:spPr>
        <p:txBody>
          <a:bodyPr>
            <a:normAutofit lnSpcReduction="10000"/>
          </a:bodyPr>
          <a:lstStyle/>
          <a:p>
            <a:pPr marL="114300" indent="0">
              <a:buNone/>
            </a:pPr>
            <a:r>
              <a:rPr lang="en-US" dirty="0">
                <a:solidFill>
                  <a:srgbClr val="FF0000"/>
                </a:solidFill>
              </a:rPr>
              <a:t>5. </a:t>
            </a:r>
            <a:r>
              <a:rPr lang="en-US" sz="2600" dirty="0">
                <a:solidFill>
                  <a:srgbClr val="FF0000"/>
                </a:solidFill>
              </a:rPr>
              <a:t>What is the trend in GDP for each country over the given years</a:t>
            </a:r>
            <a:r>
              <a:rPr lang="en-US" dirty="0">
                <a:solidFill>
                  <a:srgbClr val="FF0000"/>
                </a:solidFill>
              </a:rPr>
              <a:t>?</a:t>
            </a:r>
            <a:r>
              <a:rPr lang="en-IN" dirty="0">
                <a:solidFill>
                  <a:srgbClr val="FF0000"/>
                </a:solidFill>
              </a:rPr>
              <a:t>  </a:t>
            </a:r>
            <a:r>
              <a:rPr lang="en-IN" dirty="0"/>
              <a:t>                                                                         </a:t>
            </a:r>
          </a:p>
          <a:p>
            <a:pPr marL="114300" indent="0">
              <a:buNone/>
            </a:pPr>
            <a:endParaRPr lang="en-IN" dirty="0"/>
          </a:p>
          <a:p>
            <a:pPr marL="114300" indent="0">
              <a:buNone/>
            </a:pPr>
            <a:endParaRPr lang="en-IN" dirty="0"/>
          </a:p>
          <a:p>
            <a:pPr marL="114300" indent="0">
              <a:buNone/>
            </a:pPr>
            <a:endParaRPr lang="en-IN" dirty="0"/>
          </a:p>
          <a:p>
            <a:pPr marL="114300" indent="0">
              <a:buNone/>
            </a:pPr>
            <a:endParaRPr lang="en-IN" dirty="0"/>
          </a:p>
          <a:p>
            <a:pPr marL="114300" indent="0">
              <a:buNone/>
            </a:pPr>
            <a:endParaRPr lang="en-IN" dirty="0"/>
          </a:p>
          <a:p>
            <a:pPr marL="114300" indent="0">
              <a:buNone/>
            </a:pPr>
            <a:endParaRPr lang="en-IN" dirty="0"/>
          </a:p>
          <a:p>
            <a:pPr marL="114300" indent="0">
              <a:buNone/>
            </a:pPr>
            <a:r>
              <a:rPr lang="en-IN" dirty="0">
                <a:solidFill>
                  <a:srgbClr val="FF0000"/>
                </a:solidFill>
              </a:rPr>
              <a:t>Insights:</a:t>
            </a:r>
          </a:p>
          <a:p>
            <a:pPr marL="114300" indent="0">
              <a:buNone/>
            </a:pPr>
            <a:r>
              <a:rPr lang="en-US" sz="2400" dirty="0"/>
              <a:t>It helps identify periods of economic growth or decline for individual countries,positive value means increased,negative value means </a:t>
            </a:r>
            <a:r>
              <a:rPr lang="en-US" sz="2400" dirty="0" err="1"/>
              <a:t>decreased,for</a:t>
            </a:r>
            <a:r>
              <a:rPr lang="en-US" sz="2400" dirty="0"/>
              <a:t> some </a:t>
            </a:r>
            <a:r>
              <a:rPr lang="en-US" sz="2400" dirty="0" err="1"/>
              <a:t>countries,gdp</a:t>
            </a:r>
            <a:r>
              <a:rPr lang="en-US" sz="2400" dirty="0"/>
              <a:t> increased meanwhile others it is decreased.</a:t>
            </a:r>
            <a:endParaRPr lang="en-IN" sz="2400" dirty="0"/>
          </a:p>
          <a:p>
            <a:pPr marL="114300" indent="0">
              <a:buNone/>
            </a:pPr>
            <a:endParaRPr lang="en-IN" dirty="0"/>
          </a:p>
          <a:p>
            <a:pPr marL="114300" indent="0">
              <a:buNone/>
            </a:pPr>
            <a:endParaRPr lang="en-IN" dirty="0"/>
          </a:p>
          <a:p>
            <a:pPr marL="114300" indent="0">
              <a:buNone/>
            </a:pPr>
            <a:endParaRPr lang="en-IN" dirty="0"/>
          </a:p>
          <a:p>
            <a:pPr marL="114300" indent="0">
              <a:buNone/>
            </a:pPr>
            <a:endParaRPr lang="en-IN" dirty="0"/>
          </a:p>
          <a:p>
            <a:pPr marL="114300" indent="0">
              <a:buNone/>
            </a:pPr>
            <a:endParaRPr lang="en-US" sz="2400" dirty="0"/>
          </a:p>
        </p:txBody>
      </p:sp>
      <p:pic>
        <p:nvPicPr>
          <p:cNvPr id="5" name="Picture 4">
            <a:extLst>
              <a:ext uri="{FF2B5EF4-FFF2-40B4-BE49-F238E27FC236}">
                <a16:creationId xmlns:a16="http://schemas.microsoft.com/office/drawing/2014/main" id="{136B7DEB-5DC3-E3EA-078D-14086782A196}"/>
              </a:ext>
            </a:extLst>
          </p:cNvPr>
          <p:cNvPicPr>
            <a:picLocks noChangeAspect="1"/>
          </p:cNvPicPr>
          <p:nvPr/>
        </p:nvPicPr>
        <p:blipFill>
          <a:blip r:embed="rId2"/>
          <a:stretch>
            <a:fillRect/>
          </a:stretch>
        </p:blipFill>
        <p:spPr>
          <a:xfrm>
            <a:off x="744674" y="2048421"/>
            <a:ext cx="5486400" cy="1976438"/>
          </a:xfrm>
          <a:prstGeom prst="rect">
            <a:avLst/>
          </a:prstGeom>
        </p:spPr>
      </p:pic>
      <p:pic>
        <p:nvPicPr>
          <p:cNvPr id="8" name="Picture 7">
            <a:extLst>
              <a:ext uri="{FF2B5EF4-FFF2-40B4-BE49-F238E27FC236}">
                <a16:creationId xmlns:a16="http://schemas.microsoft.com/office/drawing/2014/main" id="{EAFFF35D-E460-39AF-A9BA-E26B402F5701}"/>
              </a:ext>
            </a:extLst>
          </p:cNvPr>
          <p:cNvPicPr>
            <a:picLocks noChangeAspect="1"/>
          </p:cNvPicPr>
          <p:nvPr/>
        </p:nvPicPr>
        <p:blipFill>
          <a:blip r:embed="rId3"/>
          <a:stretch>
            <a:fillRect/>
          </a:stretch>
        </p:blipFill>
        <p:spPr>
          <a:xfrm>
            <a:off x="6393787" y="2053651"/>
            <a:ext cx="5294671" cy="2920181"/>
          </a:xfrm>
          <a:prstGeom prst="rect">
            <a:avLst/>
          </a:prstGeom>
        </p:spPr>
      </p:pic>
      <p:sp>
        <p:nvSpPr>
          <p:cNvPr id="10" name="TextBox 9">
            <a:extLst>
              <a:ext uri="{FF2B5EF4-FFF2-40B4-BE49-F238E27FC236}">
                <a16:creationId xmlns:a16="http://schemas.microsoft.com/office/drawing/2014/main" id="{A04B9ABB-E2B8-58D0-A8BB-DC8B9364DBC5}"/>
              </a:ext>
            </a:extLst>
          </p:cNvPr>
          <p:cNvSpPr txBox="1"/>
          <p:nvPr/>
        </p:nvSpPr>
        <p:spPr>
          <a:xfrm>
            <a:off x="1176867" y="5731933"/>
            <a:ext cx="184731" cy="738664"/>
          </a:xfrm>
          <a:prstGeom prst="rect">
            <a:avLst/>
          </a:prstGeom>
          <a:noFill/>
        </p:spPr>
        <p:txBody>
          <a:bodyPr wrap="none" rtlCol="0">
            <a:spAutoFit/>
          </a:bodyPr>
          <a:lstStyle/>
          <a:p>
            <a:endParaRPr lang="en-IN" dirty="0"/>
          </a:p>
          <a:p>
            <a:endParaRPr lang="en-IN" dirty="0"/>
          </a:p>
          <a:p>
            <a:endParaRPr lang="en-IN" dirty="0"/>
          </a:p>
        </p:txBody>
      </p:sp>
    </p:spTree>
    <p:extLst>
      <p:ext uri="{BB962C8B-B14F-4D97-AF65-F5344CB8AC3E}">
        <p14:creationId xmlns:p14="http://schemas.microsoft.com/office/powerpoint/2010/main" val="4231850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F26D745-4539-2B4A-75EB-4090E8B6A476}"/>
            </a:ext>
          </a:extLst>
        </p:cNvPr>
        <p:cNvGrpSpPr/>
        <p:nvPr/>
      </p:nvGrpSpPr>
      <p:grpSpPr>
        <a:xfrm>
          <a:off x="0" y="0"/>
          <a:ext cx="0" cy="0"/>
          <a:chOff x="0" y="0"/>
          <a:chExt cx="0" cy="0"/>
        </a:xfrm>
      </p:grpSpPr>
      <p:sp>
        <p:nvSpPr>
          <p:cNvPr id="2" name="Google Shape;105;p3">
            <a:extLst>
              <a:ext uri="{FF2B5EF4-FFF2-40B4-BE49-F238E27FC236}">
                <a16:creationId xmlns:a16="http://schemas.microsoft.com/office/drawing/2014/main" id="{4B16CAC1-B268-A353-BF6B-E60F7860BA2B}"/>
              </a:ext>
            </a:extLst>
          </p:cNvPr>
          <p:cNvSpPr txBox="1"/>
          <p:nvPr/>
        </p:nvSpPr>
        <p:spPr>
          <a:xfrm>
            <a:off x="549774" y="597256"/>
            <a:ext cx="5722271" cy="486247"/>
          </a:xfrm>
          <a:prstGeom prst="rect">
            <a:avLst/>
          </a:prstGeom>
          <a:noFill/>
          <a:ln>
            <a:noFill/>
          </a:ln>
        </p:spPr>
        <p:txBody>
          <a:bodyPr spcFirstLastPara="1" wrap="square" lIns="91425" tIns="45700" rIns="91425" bIns="45700" anchor="t" anchorCtr="0">
            <a:spAutoFit/>
          </a:bodyPr>
          <a:lstStyle/>
          <a:p>
            <a:pPr marL="457200" marR="0" lvl="0" indent="-457200" algn="l" rtl="0">
              <a:lnSpc>
                <a:spcPct val="80000"/>
              </a:lnSpc>
              <a:spcBef>
                <a:spcPts val="0"/>
              </a:spcBef>
              <a:spcAft>
                <a:spcPts val="0"/>
              </a:spcAft>
              <a:buClr>
                <a:srgbClr val="FF0000"/>
              </a:buClr>
              <a:buSzPts val="3200"/>
              <a:buFont typeface="Wingdings" panose="05000000000000000000" pitchFamily="2" charset="2"/>
              <a:buChar char="Ø"/>
            </a:pPr>
            <a:r>
              <a:rPr lang="en-IN" sz="3200" b="1" dirty="0">
                <a:solidFill>
                  <a:srgbClr val="FF0000"/>
                </a:solidFill>
                <a:latin typeface="Times New Roman" panose="02020603050405020304" pitchFamily="18" charset="0"/>
                <a:ea typeface="Lato Black"/>
                <a:cs typeface="Times New Roman" panose="02020603050405020304" pitchFamily="18" charset="0"/>
                <a:sym typeface="Lato Black"/>
              </a:rPr>
              <a:t>Queries</a:t>
            </a:r>
          </a:p>
        </p:txBody>
      </p:sp>
      <p:sp>
        <p:nvSpPr>
          <p:cNvPr id="3" name="Text Placeholder 2">
            <a:extLst>
              <a:ext uri="{FF2B5EF4-FFF2-40B4-BE49-F238E27FC236}">
                <a16:creationId xmlns:a16="http://schemas.microsoft.com/office/drawing/2014/main" id="{23A8D9BF-8717-3A80-65B7-C4ACE91BB8DF}"/>
              </a:ext>
            </a:extLst>
          </p:cNvPr>
          <p:cNvSpPr>
            <a:spLocks noGrp="1"/>
          </p:cNvSpPr>
          <p:nvPr>
            <p:ph type="body" idx="1"/>
          </p:nvPr>
        </p:nvSpPr>
        <p:spPr>
          <a:xfrm>
            <a:off x="191729" y="1244600"/>
            <a:ext cx="11729338" cy="5223656"/>
          </a:xfrm>
        </p:spPr>
        <p:txBody>
          <a:bodyPr>
            <a:normAutofit fontScale="92500" lnSpcReduction="20000"/>
          </a:bodyPr>
          <a:lstStyle/>
          <a:p>
            <a:pPr marL="114300" indent="0">
              <a:buNone/>
            </a:pPr>
            <a:r>
              <a:rPr lang="en-US" sz="2400" dirty="0">
                <a:solidFill>
                  <a:srgbClr val="FF0000"/>
                </a:solidFill>
              </a:rPr>
              <a:t>6.Has energy consumption increased or decreased over the years for major economies?</a:t>
            </a:r>
            <a:r>
              <a:rPr lang="en-IN" sz="2400" dirty="0"/>
              <a:t>                                                                          </a:t>
            </a:r>
          </a:p>
          <a:p>
            <a:pPr marL="114300" indent="0">
              <a:buNone/>
            </a:pPr>
            <a:endParaRPr lang="en-IN" dirty="0"/>
          </a:p>
          <a:p>
            <a:pPr marL="114300" indent="0">
              <a:buNone/>
            </a:pPr>
            <a:endParaRPr lang="en-IN" dirty="0"/>
          </a:p>
          <a:p>
            <a:pPr marL="114300" indent="0">
              <a:buNone/>
            </a:pPr>
            <a:endParaRPr lang="en-IN" dirty="0"/>
          </a:p>
          <a:p>
            <a:pPr marL="114300" indent="0">
              <a:buNone/>
            </a:pPr>
            <a:endParaRPr lang="en-IN" dirty="0"/>
          </a:p>
          <a:p>
            <a:pPr marL="114300" indent="0">
              <a:buNone/>
            </a:pPr>
            <a:endParaRPr lang="en-IN" dirty="0"/>
          </a:p>
          <a:p>
            <a:pPr marL="114300" indent="0">
              <a:buNone/>
            </a:pPr>
            <a:endParaRPr lang="en-IN" dirty="0"/>
          </a:p>
          <a:p>
            <a:pPr marL="114300" indent="0">
              <a:buNone/>
            </a:pPr>
            <a:endParaRPr lang="en-IN" dirty="0"/>
          </a:p>
          <a:p>
            <a:pPr marL="114300" indent="0">
              <a:buNone/>
            </a:pPr>
            <a:endParaRPr lang="en-IN" sz="2600" dirty="0"/>
          </a:p>
          <a:p>
            <a:pPr marL="114300" indent="0">
              <a:buNone/>
            </a:pPr>
            <a:r>
              <a:rPr lang="en-IN" sz="3000" dirty="0">
                <a:solidFill>
                  <a:srgbClr val="FF0000"/>
                </a:solidFill>
              </a:rPr>
              <a:t>Insights:</a:t>
            </a:r>
          </a:p>
          <a:p>
            <a:pPr marL="114300" indent="0">
              <a:buNone/>
            </a:pPr>
            <a:r>
              <a:rPr lang="en-IN" sz="2600" dirty="0"/>
              <a:t>Energy consumption increased consistently in </a:t>
            </a:r>
            <a:r>
              <a:rPr lang="en-IN" sz="2600" b="1" dirty="0"/>
              <a:t>China and India</a:t>
            </a:r>
            <a:r>
              <a:rPr lang="en-IN" sz="2600" dirty="0"/>
              <a:t> from 2020 to 2023, with India showing steady growth. </a:t>
            </a:r>
            <a:r>
              <a:rPr lang="en-IN" sz="2600" b="1" dirty="0"/>
              <a:t>Germany and Japan</a:t>
            </a:r>
            <a:r>
              <a:rPr lang="en-IN" sz="2600" dirty="0"/>
              <a:t> experienced decreases in the later years, indicating a declining trend in energy consumption</a:t>
            </a:r>
            <a:r>
              <a:rPr lang="en-IN" dirty="0"/>
              <a:t>.</a:t>
            </a:r>
          </a:p>
          <a:p>
            <a:pPr marL="114300" indent="0">
              <a:buNone/>
            </a:pPr>
            <a:endParaRPr lang="en-IN" dirty="0"/>
          </a:p>
          <a:p>
            <a:pPr marL="114300" indent="0">
              <a:buNone/>
            </a:pPr>
            <a:endParaRPr lang="en-IN" dirty="0"/>
          </a:p>
          <a:p>
            <a:pPr marL="114300" indent="0">
              <a:buNone/>
            </a:pPr>
            <a:endParaRPr lang="en-IN" dirty="0"/>
          </a:p>
          <a:p>
            <a:pPr marL="114300" indent="0">
              <a:buNone/>
            </a:pPr>
            <a:endParaRPr lang="en-IN" dirty="0"/>
          </a:p>
          <a:p>
            <a:pPr marL="114300" indent="0">
              <a:buNone/>
            </a:pPr>
            <a:endParaRPr lang="en-IN" dirty="0"/>
          </a:p>
          <a:p>
            <a:pPr marL="114300" indent="0">
              <a:buNone/>
            </a:pPr>
            <a:endParaRPr lang="en-US" sz="2400" dirty="0"/>
          </a:p>
        </p:txBody>
      </p:sp>
      <p:pic>
        <p:nvPicPr>
          <p:cNvPr id="6" name="Picture 5">
            <a:extLst>
              <a:ext uri="{FF2B5EF4-FFF2-40B4-BE49-F238E27FC236}">
                <a16:creationId xmlns:a16="http://schemas.microsoft.com/office/drawing/2014/main" id="{3BCFC595-970A-6C7C-0BDA-E764479F0C20}"/>
              </a:ext>
            </a:extLst>
          </p:cNvPr>
          <p:cNvPicPr>
            <a:picLocks noChangeAspect="1"/>
          </p:cNvPicPr>
          <p:nvPr/>
        </p:nvPicPr>
        <p:blipFill>
          <a:blip r:embed="rId2"/>
          <a:stretch>
            <a:fillRect/>
          </a:stretch>
        </p:blipFill>
        <p:spPr>
          <a:xfrm>
            <a:off x="480934" y="1863479"/>
            <a:ext cx="5604387" cy="2949678"/>
          </a:xfrm>
          <a:prstGeom prst="rect">
            <a:avLst/>
          </a:prstGeom>
        </p:spPr>
      </p:pic>
      <p:pic>
        <p:nvPicPr>
          <p:cNvPr id="9" name="Picture 8">
            <a:extLst>
              <a:ext uri="{FF2B5EF4-FFF2-40B4-BE49-F238E27FC236}">
                <a16:creationId xmlns:a16="http://schemas.microsoft.com/office/drawing/2014/main" id="{0E46F6CF-654B-909F-B711-10D012AD3EAA}"/>
              </a:ext>
            </a:extLst>
          </p:cNvPr>
          <p:cNvPicPr>
            <a:picLocks noChangeAspect="1"/>
          </p:cNvPicPr>
          <p:nvPr/>
        </p:nvPicPr>
        <p:blipFill>
          <a:blip r:embed="rId3"/>
          <a:stretch>
            <a:fillRect/>
          </a:stretch>
        </p:blipFill>
        <p:spPr>
          <a:xfrm>
            <a:off x="6340548" y="1838971"/>
            <a:ext cx="4872094" cy="3152754"/>
          </a:xfrm>
          <a:prstGeom prst="rect">
            <a:avLst/>
          </a:prstGeom>
        </p:spPr>
      </p:pic>
    </p:spTree>
    <p:extLst>
      <p:ext uri="{BB962C8B-B14F-4D97-AF65-F5344CB8AC3E}">
        <p14:creationId xmlns:p14="http://schemas.microsoft.com/office/powerpoint/2010/main" val="377028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F614D05-5429-717D-4F2C-920A8440D466}"/>
            </a:ext>
          </a:extLst>
        </p:cNvPr>
        <p:cNvGrpSpPr/>
        <p:nvPr/>
      </p:nvGrpSpPr>
      <p:grpSpPr>
        <a:xfrm>
          <a:off x="0" y="0"/>
          <a:ext cx="0" cy="0"/>
          <a:chOff x="0" y="0"/>
          <a:chExt cx="0" cy="0"/>
        </a:xfrm>
      </p:grpSpPr>
      <p:sp>
        <p:nvSpPr>
          <p:cNvPr id="2" name="Google Shape;105;p3">
            <a:extLst>
              <a:ext uri="{FF2B5EF4-FFF2-40B4-BE49-F238E27FC236}">
                <a16:creationId xmlns:a16="http://schemas.microsoft.com/office/drawing/2014/main" id="{627DCD29-FDFC-DBA9-61D2-968A967B5CD4}"/>
              </a:ext>
            </a:extLst>
          </p:cNvPr>
          <p:cNvSpPr txBox="1"/>
          <p:nvPr/>
        </p:nvSpPr>
        <p:spPr>
          <a:xfrm>
            <a:off x="549774" y="597256"/>
            <a:ext cx="5722271" cy="486247"/>
          </a:xfrm>
          <a:prstGeom prst="rect">
            <a:avLst/>
          </a:prstGeom>
          <a:noFill/>
          <a:ln>
            <a:noFill/>
          </a:ln>
        </p:spPr>
        <p:txBody>
          <a:bodyPr spcFirstLastPara="1" wrap="square" lIns="91425" tIns="45700" rIns="91425" bIns="45700" anchor="t" anchorCtr="0">
            <a:spAutoFit/>
          </a:bodyPr>
          <a:lstStyle/>
          <a:p>
            <a:pPr marL="457200" marR="0" lvl="0" indent="-457200" algn="l" rtl="0">
              <a:lnSpc>
                <a:spcPct val="80000"/>
              </a:lnSpc>
              <a:spcBef>
                <a:spcPts val="0"/>
              </a:spcBef>
              <a:spcAft>
                <a:spcPts val="0"/>
              </a:spcAft>
              <a:buClr>
                <a:srgbClr val="FF0000"/>
              </a:buClr>
              <a:buSzPts val="3200"/>
              <a:buFont typeface="Wingdings" panose="05000000000000000000" pitchFamily="2" charset="2"/>
              <a:buChar char="Ø"/>
            </a:pPr>
            <a:r>
              <a:rPr lang="en-IN" sz="3200" b="1" dirty="0">
                <a:solidFill>
                  <a:srgbClr val="FF0000"/>
                </a:solidFill>
                <a:latin typeface="Times New Roman" panose="02020603050405020304" pitchFamily="18" charset="0"/>
                <a:ea typeface="Lato Black"/>
                <a:cs typeface="Times New Roman" panose="02020603050405020304" pitchFamily="18" charset="0"/>
                <a:sym typeface="Lato Black"/>
              </a:rPr>
              <a:t>Queries</a:t>
            </a:r>
          </a:p>
        </p:txBody>
      </p:sp>
      <p:sp>
        <p:nvSpPr>
          <p:cNvPr id="3" name="Text Placeholder 2">
            <a:extLst>
              <a:ext uri="{FF2B5EF4-FFF2-40B4-BE49-F238E27FC236}">
                <a16:creationId xmlns:a16="http://schemas.microsoft.com/office/drawing/2014/main" id="{0C0D301F-6237-68CB-D7F1-CC76F55A52A3}"/>
              </a:ext>
            </a:extLst>
          </p:cNvPr>
          <p:cNvSpPr>
            <a:spLocks noGrp="1"/>
          </p:cNvSpPr>
          <p:nvPr>
            <p:ph type="body" idx="1"/>
          </p:nvPr>
        </p:nvSpPr>
        <p:spPr>
          <a:xfrm>
            <a:off x="191729" y="1244599"/>
            <a:ext cx="11729338" cy="5411033"/>
          </a:xfrm>
        </p:spPr>
        <p:txBody>
          <a:bodyPr>
            <a:normAutofit fontScale="92500" lnSpcReduction="10000"/>
          </a:bodyPr>
          <a:lstStyle/>
          <a:p>
            <a:pPr marL="114300" indent="0">
              <a:buNone/>
            </a:pPr>
            <a:r>
              <a:rPr lang="en-US" sz="2400" dirty="0">
                <a:solidFill>
                  <a:srgbClr val="FF0000"/>
                </a:solidFill>
              </a:rPr>
              <a:t>7. What is the emission-to-GDP ratio for each country by year?</a:t>
            </a:r>
            <a:endParaRPr lang="en-IN" sz="2400" dirty="0">
              <a:solidFill>
                <a:srgbClr val="FF0000"/>
              </a:solidFill>
            </a:endParaRPr>
          </a:p>
          <a:p>
            <a:pPr marL="114300" indent="0">
              <a:buNone/>
            </a:pPr>
            <a:endParaRPr lang="en-IN" dirty="0">
              <a:solidFill>
                <a:srgbClr val="FF0000"/>
              </a:solidFill>
            </a:endParaRPr>
          </a:p>
          <a:p>
            <a:pPr marL="114300" indent="0">
              <a:buNone/>
            </a:pPr>
            <a:endParaRPr lang="en-IN" dirty="0"/>
          </a:p>
          <a:p>
            <a:pPr marL="114300" indent="0">
              <a:buNone/>
            </a:pPr>
            <a:endParaRPr lang="en-IN" dirty="0"/>
          </a:p>
          <a:p>
            <a:pPr marL="114300" indent="0">
              <a:buNone/>
            </a:pPr>
            <a:endParaRPr lang="en-IN" dirty="0"/>
          </a:p>
          <a:p>
            <a:pPr marL="114300" indent="0">
              <a:buNone/>
            </a:pPr>
            <a:endParaRPr lang="en-IN" dirty="0"/>
          </a:p>
          <a:p>
            <a:pPr marL="114300" indent="0">
              <a:buNone/>
            </a:pPr>
            <a:endParaRPr lang="en-US" sz="2400" dirty="0"/>
          </a:p>
          <a:p>
            <a:pPr marL="114300" indent="0">
              <a:buNone/>
            </a:pPr>
            <a:endParaRPr lang="en-US" sz="2400" dirty="0"/>
          </a:p>
          <a:p>
            <a:pPr marL="114300" indent="0">
              <a:buNone/>
            </a:pPr>
            <a:endParaRPr lang="en-US" sz="2400" dirty="0"/>
          </a:p>
          <a:p>
            <a:pPr marL="114300" indent="0">
              <a:buNone/>
            </a:pPr>
            <a:r>
              <a:rPr lang="en-IN" sz="3000" dirty="0">
                <a:solidFill>
                  <a:srgbClr val="FF0000"/>
                </a:solidFill>
              </a:rPr>
              <a:t>Insights:</a:t>
            </a:r>
          </a:p>
          <a:p>
            <a:pPr marL="114300" indent="0">
              <a:buNone/>
            </a:pPr>
            <a:r>
              <a:rPr lang="en-IN" sz="2400" dirty="0"/>
              <a:t>The emission-to-GDP ratio generally </a:t>
            </a:r>
            <a:r>
              <a:rPr lang="en-IN" sz="2400" b="1" dirty="0"/>
              <a:t>increased in Algeria and Afghanistan</a:t>
            </a:r>
            <a:r>
              <a:rPr lang="en-IN" sz="2400" dirty="0"/>
              <a:t> during 2020–2023, indicating higher emissions relative to GDP. </a:t>
            </a:r>
            <a:r>
              <a:rPr lang="en-IN" sz="2400" b="1" dirty="0"/>
              <a:t>Albania showed a slight decline by 2023</a:t>
            </a:r>
            <a:r>
              <a:rPr lang="en-IN" sz="2400" dirty="0"/>
              <a:t>, while some countries have NULL values due to missing or unmatched GDP data.</a:t>
            </a:r>
            <a:endParaRPr lang="en-US" sz="2400" dirty="0"/>
          </a:p>
        </p:txBody>
      </p:sp>
      <p:pic>
        <p:nvPicPr>
          <p:cNvPr id="5" name="Picture 4">
            <a:extLst>
              <a:ext uri="{FF2B5EF4-FFF2-40B4-BE49-F238E27FC236}">
                <a16:creationId xmlns:a16="http://schemas.microsoft.com/office/drawing/2014/main" id="{1ACD2BC4-F043-220B-E516-53AF68B6A636}"/>
              </a:ext>
            </a:extLst>
          </p:cNvPr>
          <p:cNvPicPr>
            <a:picLocks noChangeAspect="1"/>
          </p:cNvPicPr>
          <p:nvPr/>
        </p:nvPicPr>
        <p:blipFill>
          <a:blip r:embed="rId2"/>
          <a:stretch>
            <a:fillRect/>
          </a:stretch>
        </p:blipFill>
        <p:spPr>
          <a:xfrm>
            <a:off x="657214" y="1832818"/>
            <a:ext cx="4941612" cy="3106441"/>
          </a:xfrm>
          <a:prstGeom prst="rect">
            <a:avLst/>
          </a:prstGeom>
        </p:spPr>
      </p:pic>
      <p:pic>
        <p:nvPicPr>
          <p:cNvPr id="8" name="Picture 7">
            <a:extLst>
              <a:ext uri="{FF2B5EF4-FFF2-40B4-BE49-F238E27FC236}">
                <a16:creationId xmlns:a16="http://schemas.microsoft.com/office/drawing/2014/main" id="{DBD53AE9-4948-3A3E-D4F1-A0B8C2640AED}"/>
              </a:ext>
            </a:extLst>
          </p:cNvPr>
          <p:cNvPicPr>
            <a:picLocks noChangeAspect="1"/>
          </p:cNvPicPr>
          <p:nvPr/>
        </p:nvPicPr>
        <p:blipFill>
          <a:blip r:embed="rId3"/>
          <a:stretch>
            <a:fillRect/>
          </a:stretch>
        </p:blipFill>
        <p:spPr>
          <a:xfrm>
            <a:off x="6827594" y="1903618"/>
            <a:ext cx="3920354" cy="3477852"/>
          </a:xfrm>
          <a:prstGeom prst="rect">
            <a:avLst/>
          </a:prstGeom>
        </p:spPr>
      </p:pic>
    </p:spTree>
    <p:extLst>
      <p:ext uri="{BB962C8B-B14F-4D97-AF65-F5344CB8AC3E}">
        <p14:creationId xmlns:p14="http://schemas.microsoft.com/office/powerpoint/2010/main" val="2518978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BFAA10C-E347-5D58-BB3D-DCEDEF0233E3}"/>
            </a:ext>
          </a:extLst>
        </p:cNvPr>
        <p:cNvGrpSpPr/>
        <p:nvPr/>
      </p:nvGrpSpPr>
      <p:grpSpPr>
        <a:xfrm>
          <a:off x="0" y="0"/>
          <a:ext cx="0" cy="0"/>
          <a:chOff x="0" y="0"/>
          <a:chExt cx="0" cy="0"/>
        </a:xfrm>
      </p:grpSpPr>
      <p:sp>
        <p:nvSpPr>
          <p:cNvPr id="2" name="Google Shape;105;p3">
            <a:extLst>
              <a:ext uri="{FF2B5EF4-FFF2-40B4-BE49-F238E27FC236}">
                <a16:creationId xmlns:a16="http://schemas.microsoft.com/office/drawing/2014/main" id="{D881155C-F42C-B167-A1D7-14FEA8A66832}"/>
              </a:ext>
            </a:extLst>
          </p:cNvPr>
          <p:cNvSpPr txBox="1"/>
          <p:nvPr/>
        </p:nvSpPr>
        <p:spPr>
          <a:xfrm>
            <a:off x="549774" y="597256"/>
            <a:ext cx="5722271" cy="486247"/>
          </a:xfrm>
          <a:prstGeom prst="rect">
            <a:avLst/>
          </a:prstGeom>
          <a:noFill/>
          <a:ln>
            <a:noFill/>
          </a:ln>
        </p:spPr>
        <p:txBody>
          <a:bodyPr spcFirstLastPara="1" wrap="square" lIns="91425" tIns="45700" rIns="91425" bIns="45700" anchor="t" anchorCtr="0">
            <a:spAutoFit/>
          </a:bodyPr>
          <a:lstStyle/>
          <a:p>
            <a:pPr marL="457200" marR="0" lvl="0" indent="-457200" algn="l" rtl="0">
              <a:lnSpc>
                <a:spcPct val="80000"/>
              </a:lnSpc>
              <a:spcBef>
                <a:spcPts val="0"/>
              </a:spcBef>
              <a:spcAft>
                <a:spcPts val="0"/>
              </a:spcAft>
              <a:buClr>
                <a:srgbClr val="FF0000"/>
              </a:buClr>
              <a:buSzPts val="3200"/>
              <a:buFont typeface="Wingdings" panose="05000000000000000000" pitchFamily="2" charset="2"/>
              <a:buChar char="Ø"/>
            </a:pPr>
            <a:r>
              <a:rPr lang="en-IN" sz="3200" b="1" dirty="0">
                <a:solidFill>
                  <a:srgbClr val="FF0000"/>
                </a:solidFill>
                <a:latin typeface="Times New Roman" panose="02020603050405020304" pitchFamily="18" charset="0"/>
                <a:ea typeface="Lato Black"/>
                <a:cs typeface="Times New Roman" panose="02020603050405020304" pitchFamily="18" charset="0"/>
                <a:sym typeface="Lato Black"/>
              </a:rPr>
              <a:t>Queries</a:t>
            </a:r>
          </a:p>
        </p:txBody>
      </p:sp>
      <p:sp>
        <p:nvSpPr>
          <p:cNvPr id="3" name="Text Placeholder 2">
            <a:extLst>
              <a:ext uri="{FF2B5EF4-FFF2-40B4-BE49-F238E27FC236}">
                <a16:creationId xmlns:a16="http://schemas.microsoft.com/office/drawing/2014/main" id="{5BAA7738-9121-0E2B-07A9-525A8DB98B19}"/>
              </a:ext>
            </a:extLst>
          </p:cNvPr>
          <p:cNvSpPr>
            <a:spLocks noGrp="1"/>
          </p:cNvSpPr>
          <p:nvPr>
            <p:ph type="body" idx="1"/>
          </p:nvPr>
        </p:nvSpPr>
        <p:spPr>
          <a:xfrm>
            <a:off x="191729" y="1244600"/>
            <a:ext cx="11729338" cy="5240868"/>
          </a:xfrm>
        </p:spPr>
        <p:txBody>
          <a:bodyPr>
            <a:normAutofit/>
          </a:bodyPr>
          <a:lstStyle/>
          <a:p>
            <a:pPr marL="114300" indent="0">
              <a:buNone/>
            </a:pPr>
            <a:r>
              <a:rPr lang="en-US" sz="2400" dirty="0">
                <a:solidFill>
                  <a:srgbClr val="FF0000"/>
                </a:solidFill>
              </a:rPr>
              <a:t>8. What is the energy consumption per capita for each country over the last decade?</a:t>
            </a:r>
          </a:p>
          <a:p>
            <a:pPr marL="114300" indent="0">
              <a:buNone/>
            </a:pPr>
            <a:endParaRPr lang="en-US" dirty="0">
              <a:solidFill>
                <a:srgbClr val="FF0000"/>
              </a:solidFill>
            </a:endParaRPr>
          </a:p>
          <a:p>
            <a:pPr marL="114300" indent="0">
              <a:buNone/>
            </a:pPr>
            <a:endParaRPr lang="en-US" dirty="0"/>
          </a:p>
          <a:p>
            <a:pPr marL="114300" indent="0">
              <a:buNone/>
            </a:pPr>
            <a:endParaRPr lang="en-US" dirty="0"/>
          </a:p>
          <a:p>
            <a:pPr marL="114300" indent="0">
              <a:buNone/>
            </a:pPr>
            <a:endParaRPr lang="en-US" dirty="0"/>
          </a:p>
          <a:p>
            <a:pPr marL="114300" indent="0">
              <a:buNone/>
            </a:pPr>
            <a:endParaRPr lang="en-US" dirty="0"/>
          </a:p>
          <a:p>
            <a:pPr marL="114300" indent="0">
              <a:buNone/>
            </a:pPr>
            <a:endParaRPr lang="en-US" dirty="0"/>
          </a:p>
          <a:p>
            <a:pPr marL="114300" indent="0">
              <a:buNone/>
            </a:pPr>
            <a:endParaRPr lang="en-US" dirty="0"/>
          </a:p>
          <a:p>
            <a:pPr marL="114300" indent="0">
              <a:buNone/>
            </a:pPr>
            <a:r>
              <a:rPr lang="en-US" dirty="0">
                <a:solidFill>
                  <a:srgbClr val="FF0000"/>
                </a:solidFill>
              </a:rPr>
              <a:t>Insights:</a:t>
            </a:r>
          </a:p>
          <a:p>
            <a:pPr marL="114300" indent="0">
              <a:buNone/>
            </a:pPr>
            <a:r>
              <a:rPr lang="en-US" sz="2400" dirty="0"/>
              <a:t>It provides a fairer comparision between countries with different population sizes.</a:t>
            </a:r>
            <a:endParaRPr lang="en-IN" sz="2400" dirty="0"/>
          </a:p>
          <a:p>
            <a:pPr marL="114300" indent="0">
              <a:buNone/>
            </a:pPr>
            <a:endParaRPr lang="en-IN" dirty="0"/>
          </a:p>
          <a:p>
            <a:pPr marL="114300" indent="0">
              <a:buNone/>
            </a:pPr>
            <a:endParaRPr lang="en-IN" dirty="0"/>
          </a:p>
          <a:p>
            <a:pPr marL="114300" indent="0">
              <a:buNone/>
            </a:pPr>
            <a:endParaRPr lang="en-IN" dirty="0"/>
          </a:p>
          <a:p>
            <a:pPr marL="114300" indent="0">
              <a:buNone/>
            </a:pPr>
            <a:endParaRPr lang="en-IN" dirty="0"/>
          </a:p>
          <a:p>
            <a:pPr marL="114300" indent="0">
              <a:buNone/>
            </a:pPr>
            <a:endParaRPr lang="en-US" sz="2400" dirty="0"/>
          </a:p>
        </p:txBody>
      </p:sp>
      <p:pic>
        <p:nvPicPr>
          <p:cNvPr id="6" name="Picture 5">
            <a:extLst>
              <a:ext uri="{FF2B5EF4-FFF2-40B4-BE49-F238E27FC236}">
                <a16:creationId xmlns:a16="http://schemas.microsoft.com/office/drawing/2014/main" id="{1AB25CB1-8ED9-BDFB-5B05-A8FD9664CC08}"/>
              </a:ext>
            </a:extLst>
          </p:cNvPr>
          <p:cNvPicPr>
            <a:picLocks noChangeAspect="1"/>
          </p:cNvPicPr>
          <p:nvPr/>
        </p:nvPicPr>
        <p:blipFill>
          <a:blip r:embed="rId2"/>
          <a:stretch>
            <a:fillRect/>
          </a:stretch>
        </p:blipFill>
        <p:spPr>
          <a:xfrm>
            <a:off x="500843" y="1840484"/>
            <a:ext cx="5781369" cy="3400425"/>
          </a:xfrm>
          <a:prstGeom prst="rect">
            <a:avLst/>
          </a:prstGeom>
        </p:spPr>
      </p:pic>
      <p:pic>
        <p:nvPicPr>
          <p:cNvPr id="9" name="Picture 8">
            <a:extLst>
              <a:ext uri="{FF2B5EF4-FFF2-40B4-BE49-F238E27FC236}">
                <a16:creationId xmlns:a16="http://schemas.microsoft.com/office/drawing/2014/main" id="{09EAC804-BF25-0947-B3F8-1069FC3E9DC1}"/>
              </a:ext>
            </a:extLst>
          </p:cNvPr>
          <p:cNvPicPr>
            <a:picLocks noChangeAspect="1"/>
          </p:cNvPicPr>
          <p:nvPr/>
        </p:nvPicPr>
        <p:blipFill>
          <a:blip r:embed="rId3"/>
          <a:stretch>
            <a:fillRect/>
          </a:stretch>
        </p:blipFill>
        <p:spPr>
          <a:xfrm>
            <a:off x="6434722" y="1846349"/>
            <a:ext cx="5032754" cy="3448050"/>
          </a:xfrm>
          <a:prstGeom prst="rect">
            <a:avLst/>
          </a:prstGeom>
        </p:spPr>
      </p:pic>
    </p:spTree>
    <p:extLst>
      <p:ext uri="{BB962C8B-B14F-4D97-AF65-F5344CB8AC3E}">
        <p14:creationId xmlns:p14="http://schemas.microsoft.com/office/powerpoint/2010/main" val="1509566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0693F2F-162E-F760-96DA-EDC1F64727D5}"/>
            </a:ext>
          </a:extLst>
        </p:cNvPr>
        <p:cNvGrpSpPr/>
        <p:nvPr/>
      </p:nvGrpSpPr>
      <p:grpSpPr>
        <a:xfrm>
          <a:off x="0" y="0"/>
          <a:ext cx="0" cy="0"/>
          <a:chOff x="0" y="0"/>
          <a:chExt cx="0" cy="0"/>
        </a:xfrm>
      </p:grpSpPr>
      <p:sp>
        <p:nvSpPr>
          <p:cNvPr id="2" name="Google Shape;105;p3">
            <a:extLst>
              <a:ext uri="{FF2B5EF4-FFF2-40B4-BE49-F238E27FC236}">
                <a16:creationId xmlns:a16="http://schemas.microsoft.com/office/drawing/2014/main" id="{6A9D928B-6143-9B46-E2CB-B9BF9B6E08B2}"/>
              </a:ext>
            </a:extLst>
          </p:cNvPr>
          <p:cNvSpPr txBox="1"/>
          <p:nvPr/>
        </p:nvSpPr>
        <p:spPr>
          <a:xfrm>
            <a:off x="549774" y="597256"/>
            <a:ext cx="5722271" cy="486247"/>
          </a:xfrm>
          <a:prstGeom prst="rect">
            <a:avLst/>
          </a:prstGeom>
          <a:noFill/>
          <a:ln>
            <a:noFill/>
          </a:ln>
        </p:spPr>
        <p:txBody>
          <a:bodyPr spcFirstLastPara="1" wrap="square" lIns="91425" tIns="45700" rIns="91425" bIns="45700" anchor="t" anchorCtr="0">
            <a:spAutoFit/>
          </a:bodyPr>
          <a:lstStyle/>
          <a:p>
            <a:pPr marL="457200" marR="0" lvl="0" indent="-457200" algn="l" rtl="0">
              <a:lnSpc>
                <a:spcPct val="80000"/>
              </a:lnSpc>
              <a:spcBef>
                <a:spcPts val="0"/>
              </a:spcBef>
              <a:spcAft>
                <a:spcPts val="0"/>
              </a:spcAft>
              <a:buClr>
                <a:srgbClr val="FF0000"/>
              </a:buClr>
              <a:buSzPts val="3200"/>
              <a:buFont typeface="Wingdings" panose="05000000000000000000" pitchFamily="2" charset="2"/>
              <a:buChar char="Ø"/>
            </a:pPr>
            <a:r>
              <a:rPr lang="en-IN" sz="3200" b="1" dirty="0">
                <a:solidFill>
                  <a:srgbClr val="FF0000"/>
                </a:solidFill>
                <a:latin typeface="Times New Roman" panose="02020603050405020304" pitchFamily="18" charset="0"/>
                <a:ea typeface="Lato Black"/>
                <a:cs typeface="Times New Roman" panose="02020603050405020304" pitchFamily="18" charset="0"/>
                <a:sym typeface="Lato Black"/>
              </a:rPr>
              <a:t>Queries</a:t>
            </a:r>
          </a:p>
        </p:txBody>
      </p:sp>
      <p:sp>
        <p:nvSpPr>
          <p:cNvPr id="3" name="Text Placeholder 2">
            <a:extLst>
              <a:ext uri="{FF2B5EF4-FFF2-40B4-BE49-F238E27FC236}">
                <a16:creationId xmlns:a16="http://schemas.microsoft.com/office/drawing/2014/main" id="{D9CFB83F-ACEE-9FE6-6BAC-F7DABD2393B7}"/>
              </a:ext>
            </a:extLst>
          </p:cNvPr>
          <p:cNvSpPr>
            <a:spLocks noGrp="1"/>
          </p:cNvSpPr>
          <p:nvPr>
            <p:ph type="body" idx="1"/>
          </p:nvPr>
        </p:nvSpPr>
        <p:spPr>
          <a:xfrm>
            <a:off x="191729" y="1244600"/>
            <a:ext cx="11729338" cy="5240868"/>
          </a:xfrm>
        </p:spPr>
        <p:txBody>
          <a:bodyPr>
            <a:normAutofit lnSpcReduction="10000"/>
          </a:bodyPr>
          <a:lstStyle/>
          <a:p>
            <a:pPr marL="114300" indent="0">
              <a:buNone/>
            </a:pPr>
            <a:r>
              <a:rPr lang="en-US" sz="2400" dirty="0">
                <a:solidFill>
                  <a:srgbClr val="FF0000"/>
                </a:solidFill>
              </a:rPr>
              <a:t>9. How does energy production per capita vary across countries?</a:t>
            </a:r>
            <a:endParaRPr lang="en-IN" sz="2400" dirty="0">
              <a:solidFill>
                <a:srgbClr val="FF0000"/>
              </a:solidFill>
            </a:endParaRPr>
          </a:p>
          <a:p>
            <a:pPr marL="114300" indent="0">
              <a:buNone/>
            </a:pPr>
            <a:endParaRPr lang="en-IN" dirty="0">
              <a:solidFill>
                <a:srgbClr val="FF0000"/>
              </a:solidFill>
            </a:endParaRPr>
          </a:p>
          <a:p>
            <a:pPr marL="114300" indent="0">
              <a:buNone/>
            </a:pPr>
            <a:endParaRPr lang="en-IN" dirty="0"/>
          </a:p>
          <a:p>
            <a:pPr marL="114300" indent="0">
              <a:buNone/>
            </a:pPr>
            <a:endParaRPr lang="en-IN" dirty="0"/>
          </a:p>
          <a:p>
            <a:pPr marL="114300" indent="0">
              <a:buNone/>
            </a:pPr>
            <a:endParaRPr lang="en-IN" dirty="0"/>
          </a:p>
          <a:p>
            <a:pPr marL="114300" indent="0">
              <a:buNone/>
            </a:pPr>
            <a:endParaRPr lang="en-IN" dirty="0"/>
          </a:p>
          <a:p>
            <a:pPr marL="114300" indent="0">
              <a:buNone/>
            </a:pPr>
            <a:endParaRPr lang="en-IN" dirty="0"/>
          </a:p>
          <a:p>
            <a:pPr marL="114300" indent="0">
              <a:buNone/>
            </a:pPr>
            <a:endParaRPr lang="en-IN" dirty="0"/>
          </a:p>
          <a:p>
            <a:pPr marL="114300" indent="0">
              <a:buNone/>
            </a:pPr>
            <a:endParaRPr lang="en-IN" sz="2400" dirty="0"/>
          </a:p>
          <a:p>
            <a:pPr marL="114300" indent="0">
              <a:buNone/>
            </a:pPr>
            <a:r>
              <a:rPr lang="en-IN" dirty="0">
                <a:solidFill>
                  <a:srgbClr val="FF0000"/>
                </a:solidFill>
              </a:rPr>
              <a:t>Insights:</a:t>
            </a:r>
          </a:p>
          <a:p>
            <a:pPr marL="114300" indent="0">
              <a:buNone/>
            </a:pPr>
            <a:r>
              <a:rPr lang="en-US" sz="2400" dirty="0"/>
              <a:t>It identifies how the production per capita(per person) looks like</a:t>
            </a:r>
            <a:endParaRPr lang="en-IN" sz="2400" dirty="0"/>
          </a:p>
          <a:p>
            <a:pPr marL="114300" indent="0">
              <a:buNone/>
            </a:pPr>
            <a:endParaRPr lang="en-IN" dirty="0"/>
          </a:p>
          <a:p>
            <a:pPr marL="114300" indent="0">
              <a:buNone/>
            </a:pPr>
            <a:endParaRPr lang="en-IN" dirty="0"/>
          </a:p>
          <a:p>
            <a:pPr marL="114300" indent="0">
              <a:buNone/>
            </a:pPr>
            <a:endParaRPr lang="en-US" sz="2400" dirty="0"/>
          </a:p>
        </p:txBody>
      </p:sp>
      <p:pic>
        <p:nvPicPr>
          <p:cNvPr id="5" name="Picture 4">
            <a:extLst>
              <a:ext uri="{FF2B5EF4-FFF2-40B4-BE49-F238E27FC236}">
                <a16:creationId xmlns:a16="http://schemas.microsoft.com/office/drawing/2014/main" id="{0946BA36-42D8-58B3-7566-D2AB33D66F4E}"/>
              </a:ext>
            </a:extLst>
          </p:cNvPr>
          <p:cNvPicPr>
            <a:picLocks noChangeAspect="1"/>
          </p:cNvPicPr>
          <p:nvPr/>
        </p:nvPicPr>
        <p:blipFill>
          <a:blip r:embed="rId2"/>
          <a:stretch>
            <a:fillRect/>
          </a:stretch>
        </p:blipFill>
        <p:spPr>
          <a:xfrm>
            <a:off x="476992" y="2012591"/>
            <a:ext cx="5609016" cy="3181502"/>
          </a:xfrm>
          <a:prstGeom prst="rect">
            <a:avLst/>
          </a:prstGeom>
        </p:spPr>
      </p:pic>
      <p:pic>
        <p:nvPicPr>
          <p:cNvPr id="8" name="Picture 7">
            <a:extLst>
              <a:ext uri="{FF2B5EF4-FFF2-40B4-BE49-F238E27FC236}">
                <a16:creationId xmlns:a16="http://schemas.microsoft.com/office/drawing/2014/main" id="{BCC5980E-DDD1-9604-A3C6-C45F39F81401}"/>
              </a:ext>
            </a:extLst>
          </p:cNvPr>
          <p:cNvPicPr>
            <a:picLocks noChangeAspect="1"/>
          </p:cNvPicPr>
          <p:nvPr/>
        </p:nvPicPr>
        <p:blipFill>
          <a:blip r:embed="rId3"/>
          <a:stretch>
            <a:fillRect/>
          </a:stretch>
        </p:blipFill>
        <p:spPr>
          <a:xfrm>
            <a:off x="6406142" y="1971368"/>
            <a:ext cx="5191125" cy="3810000"/>
          </a:xfrm>
          <a:prstGeom prst="rect">
            <a:avLst/>
          </a:prstGeom>
        </p:spPr>
      </p:pic>
    </p:spTree>
    <p:extLst>
      <p:ext uri="{BB962C8B-B14F-4D97-AF65-F5344CB8AC3E}">
        <p14:creationId xmlns:p14="http://schemas.microsoft.com/office/powerpoint/2010/main" val="3243259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EFC16A6-68ED-14D8-A9D9-F5A9A4D96695}"/>
            </a:ext>
          </a:extLst>
        </p:cNvPr>
        <p:cNvGrpSpPr/>
        <p:nvPr/>
      </p:nvGrpSpPr>
      <p:grpSpPr>
        <a:xfrm>
          <a:off x="0" y="0"/>
          <a:ext cx="0" cy="0"/>
          <a:chOff x="0" y="0"/>
          <a:chExt cx="0" cy="0"/>
        </a:xfrm>
      </p:grpSpPr>
      <p:sp>
        <p:nvSpPr>
          <p:cNvPr id="2" name="Google Shape;105;p3">
            <a:extLst>
              <a:ext uri="{FF2B5EF4-FFF2-40B4-BE49-F238E27FC236}">
                <a16:creationId xmlns:a16="http://schemas.microsoft.com/office/drawing/2014/main" id="{F8A2EA27-0E87-8BC6-4E3B-7D8B6314A8B7}"/>
              </a:ext>
            </a:extLst>
          </p:cNvPr>
          <p:cNvSpPr txBox="1"/>
          <p:nvPr/>
        </p:nvSpPr>
        <p:spPr>
          <a:xfrm>
            <a:off x="549774" y="597256"/>
            <a:ext cx="5722271" cy="486247"/>
          </a:xfrm>
          <a:prstGeom prst="rect">
            <a:avLst/>
          </a:prstGeom>
          <a:noFill/>
          <a:ln>
            <a:noFill/>
          </a:ln>
        </p:spPr>
        <p:txBody>
          <a:bodyPr spcFirstLastPara="1" wrap="square" lIns="91425" tIns="45700" rIns="91425" bIns="45700" anchor="t" anchorCtr="0">
            <a:spAutoFit/>
          </a:bodyPr>
          <a:lstStyle/>
          <a:p>
            <a:pPr marL="457200" marR="0" lvl="0" indent="-457200" algn="l" rtl="0">
              <a:lnSpc>
                <a:spcPct val="80000"/>
              </a:lnSpc>
              <a:spcBef>
                <a:spcPts val="0"/>
              </a:spcBef>
              <a:spcAft>
                <a:spcPts val="0"/>
              </a:spcAft>
              <a:buClr>
                <a:srgbClr val="FF0000"/>
              </a:buClr>
              <a:buSzPts val="3200"/>
              <a:buFont typeface="Wingdings" panose="05000000000000000000" pitchFamily="2" charset="2"/>
              <a:buChar char="Ø"/>
            </a:pPr>
            <a:r>
              <a:rPr lang="en-IN" sz="3200" b="1" dirty="0">
                <a:solidFill>
                  <a:srgbClr val="FF0000"/>
                </a:solidFill>
                <a:latin typeface="Times New Roman" panose="02020603050405020304" pitchFamily="18" charset="0"/>
                <a:ea typeface="Lato Black"/>
                <a:cs typeface="Times New Roman" panose="02020603050405020304" pitchFamily="18" charset="0"/>
                <a:sym typeface="Lato Black"/>
              </a:rPr>
              <a:t>Queries</a:t>
            </a:r>
          </a:p>
        </p:txBody>
      </p:sp>
      <p:sp>
        <p:nvSpPr>
          <p:cNvPr id="3" name="Text Placeholder 2">
            <a:extLst>
              <a:ext uri="{FF2B5EF4-FFF2-40B4-BE49-F238E27FC236}">
                <a16:creationId xmlns:a16="http://schemas.microsoft.com/office/drawing/2014/main" id="{90B7CF64-6CD5-6561-6419-2213752F8179}"/>
              </a:ext>
            </a:extLst>
          </p:cNvPr>
          <p:cNvSpPr>
            <a:spLocks noGrp="1"/>
          </p:cNvSpPr>
          <p:nvPr>
            <p:ph type="body" idx="1"/>
          </p:nvPr>
        </p:nvSpPr>
        <p:spPr>
          <a:xfrm>
            <a:off x="206477" y="1292667"/>
            <a:ext cx="11729338" cy="5240868"/>
          </a:xfrm>
        </p:spPr>
        <p:txBody>
          <a:bodyPr>
            <a:normAutofit/>
          </a:bodyPr>
          <a:lstStyle/>
          <a:p>
            <a:pPr marL="114300" indent="0">
              <a:buNone/>
            </a:pPr>
            <a:r>
              <a:rPr lang="en-US" dirty="0">
                <a:solidFill>
                  <a:srgbClr val="FF0000"/>
                </a:solidFill>
              </a:rPr>
              <a:t>10. What is the global share (%) of emissions by country?</a:t>
            </a:r>
            <a:endParaRPr lang="en-IN" dirty="0">
              <a:solidFill>
                <a:srgbClr val="FF0000"/>
              </a:solidFill>
            </a:endParaRPr>
          </a:p>
          <a:p>
            <a:pPr marL="114300" indent="0">
              <a:buNone/>
            </a:pPr>
            <a:endParaRPr lang="en-IN" dirty="0"/>
          </a:p>
          <a:p>
            <a:pPr marL="114300" indent="0">
              <a:buNone/>
            </a:pPr>
            <a:endParaRPr lang="en-IN" dirty="0"/>
          </a:p>
          <a:p>
            <a:pPr marL="114300" indent="0">
              <a:buNone/>
            </a:pPr>
            <a:endParaRPr lang="en-IN" dirty="0"/>
          </a:p>
          <a:p>
            <a:pPr marL="114300" indent="0">
              <a:buNone/>
            </a:pPr>
            <a:endParaRPr lang="en-IN" dirty="0"/>
          </a:p>
          <a:p>
            <a:pPr marL="114300" indent="0">
              <a:buNone/>
            </a:pPr>
            <a:endParaRPr lang="en-IN" dirty="0"/>
          </a:p>
          <a:p>
            <a:pPr marL="114300" indent="0">
              <a:buNone/>
            </a:pPr>
            <a:endParaRPr lang="en-IN" dirty="0"/>
          </a:p>
          <a:p>
            <a:pPr marL="114300" indent="0">
              <a:buNone/>
            </a:pPr>
            <a:r>
              <a:rPr lang="en-IN" dirty="0">
                <a:solidFill>
                  <a:srgbClr val="FF0000"/>
                </a:solidFill>
              </a:rPr>
              <a:t>Insights:</a:t>
            </a:r>
          </a:p>
          <a:p>
            <a:pPr marL="114300" indent="0">
              <a:buNone/>
            </a:pPr>
            <a:r>
              <a:rPr lang="en-US" sz="2400" dirty="0"/>
              <a:t>China has highest share of </a:t>
            </a:r>
            <a:r>
              <a:rPr lang="en-US" sz="2400" dirty="0" err="1"/>
              <a:t>emissions,followed</a:t>
            </a:r>
            <a:r>
              <a:rPr lang="en-US" sz="2400" dirty="0"/>
              <a:t> by United States and </a:t>
            </a:r>
            <a:r>
              <a:rPr lang="en-US" sz="2400" dirty="0" err="1"/>
              <a:t>India.It</a:t>
            </a:r>
            <a:r>
              <a:rPr lang="en-US" sz="2400" dirty="0"/>
              <a:t> shows how much each country contributes to the overall emissions represented in the dataset.</a:t>
            </a:r>
            <a:endParaRPr lang="en-IN" sz="2400" dirty="0"/>
          </a:p>
          <a:p>
            <a:pPr marL="114300" indent="0">
              <a:buNone/>
            </a:pPr>
            <a:endParaRPr lang="en-US" sz="2400" dirty="0"/>
          </a:p>
        </p:txBody>
      </p:sp>
      <p:pic>
        <p:nvPicPr>
          <p:cNvPr id="6" name="Picture 5">
            <a:extLst>
              <a:ext uri="{FF2B5EF4-FFF2-40B4-BE49-F238E27FC236}">
                <a16:creationId xmlns:a16="http://schemas.microsoft.com/office/drawing/2014/main" id="{F89516D1-017C-D356-E45C-51C8D6D19510}"/>
              </a:ext>
            </a:extLst>
          </p:cNvPr>
          <p:cNvPicPr>
            <a:picLocks noChangeAspect="1"/>
          </p:cNvPicPr>
          <p:nvPr/>
        </p:nvPicPr>
        <p:blipFill>
          <a:blip r:embed="rId2"/>
          <a:stretch>
            <a:fillRect/>
          </a:stretch>
        </p:blipFill>
        <p:spPr>
          <a:xfrm>
            <a:off x="911857" y="2131453"/>
            <a:ext cx="7138220" cy="2412284"/>
          </a:xfrm>
          <a:prstGeom prst="rect">
            <a:avLst/>
          </a:prstGeom>
        </p:spPr>
      </p:pic>
      <p:pic>
        <p:nvPicPr>
          <p:cNvPr id="10" name="Picture 9">
            <a:extLst>
              <a:ext uri="{FF2B5EF4-FFF2-40B4-BE49-F238E27FC236}">
                <a16:creationId xmlns:a16="http://schemas.microsoft.com/office/drawing/2014/main" id="{8B69BFC4-3666-679A-7227-1D33F905229C}"/>
              </a:ext>
            </a:extLst>
          </p:cNvPr>
          <p:cNvPicPr>
            <a:picLocks noChangeAspect="1"/>
          </p:cNvPicPr>
          <p:nvPr/>
        </p:nvPicPr>
        <p:blipFill>
          <a:blip r:embed="rId3"/>
          <a:stretch>
            <a:fillRect/>
          </a:stretch>
        </p:blipFill>
        <p:spPr>
          <a:xfrm>
            <a:off x="8770588" y="1410623"/>
            <a:ext cx="2893757" cy="4104200"/>
          </a:xfrm>
          <a:prstGeom prst="rect">
            <a:avLst/>
          </a:prstGeom>
        </p:spPr>
      </p:pic>
    </p:spTree>
    <p:extLst>
      <p:ext uri="{BB962C8B-B14F-4D97-AF65-F5344CB8AC3E}">
        <p14:creationId xmlns:p14="http://schemas.microsoft.com/office/powerpoint/2010/main" val="1032081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1834940-2B2A-2A00-EF41-ABCB7165FE5B}"/>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88510DE2-8DAF-1764-9987-53C405B8A4A8}"/>
              </a:ext>
            </a:extLst>
          </p:cNvPr>
          <p:cNvSpPr>
            <a:spLocks noGrp="1"/>
          </p:cNvSpPr>
          <p:nvPr>
            <p:ph type="body" idx="1"/>
          </p:nvPr>
        </p:nvSpPr>
        <p:spPr>
          <a:xfrm>
            <a:off x="591151" y="861933"/>
            <a:ext cx="10462846" cy="5546361"/>
          </a:xfrm>
        </p:spPr>
        <p:txBody>
          <a:bodyPr>
            <a:noAutofit/>
          </a:bodyPr>
          <a:lstStyle/>
          <a:p>
            <a:pPr lvl="0">
              <a:buFont typeface="Wingdings" panose="05000000000000000000" pitchFamily="2" charset="2"/>
              <a:buChar char="Ø"/>
            </a:pPr>
            <a:r>
              <a:rPr lang="en-IN" sz="2400" b="1" dirty="0"/>
              <a:t>Promote Renewable Energy</a:t>
            </a:r>
            <a:br>
              <a:rPr lang="en-IN" sz="2400" dirty="0"/>
            </a:br>
            <a:r>
              <a:rPr lang="en-IN" sz="2400" dirty="0"/>
              <a:t>Countries should increase the use of renewable energy sources such as solar, wind, and hydropower to reduce dependence on fossil fuels and lower emissions.</a:t>
            </a:r>
          </a:p>
          <a:p>
            <a:pPr lvl="0">
              <a:buFont typeface="Wingdings" panose="05000000000000000000" pitchFamily="2" charset="2"/>
              <a:buChar char="Ø"/>
            </a:pPr>
            <a:r>
              <a:rPr lang="en-IN" sz="2400" b="1" dirty="0"/>
              <a:t>Improve Energy Efficiency</a:t>
            </a:r>
            <a:br>
              <a:rPr lang="en-IN" sz="2400" dirty="0"/>
            </a:br>
            <a:r>
              <a:rPr lang="en-IN" sz="2400" dirty="0"/>
              <a:t>Energy-efficient technologies and practices should be encouraged in industries, transportation, and households to reduce unnecessary energy consumption.</a:t>
            </a:r>
          </a:p>
          <a:p>
            <a:pPr lvl="0">
              <a:buFont typeface="Wingdings" panose="05000000000000000000" pitchFamily="2" charset="2"/>
              <a:buChar char="Ø"/>
            </a:pPr>
            <a:r>
              <a:rPr lang="en-IN" sz="2400" b="1" dirty="0"/>
              <a:t>Reduce Fossil Fuel Dependency</a:t>
            </a:r>
            <a:br>
              <a:rPr lang="en-IN" sz="2400" dirty="0"/>
            </a:br>
            <a:r>
              <a:rPr lang="en-IN" sz="2400" dirty="0"/>
              <a:t>Since coal and oil are major contributors to emissions, countries should gradually reduce their dependence on fossil-fuel-based energy and promote cleaner alternatives.</a:t>
            </a:r>
          </a:p>
          <a:p>
            <a:pPr lvl="0">
              <a:buFont typeface="Wingdings" panose="05000000000000000000" pitchFamily="2" charset="2"/>
              <a:buChar char="Ø"/>
            </a:pPr>
            <a:r>
              <a:rPr lang="en-IN" sz="2400" b="1" dirty="0"/>
              <a:t>Balance Energy Production and Consumption</a:t>
            </a:r>
            <a:br>
              <a:rPr lang="en-IN" sz="2400" dirty="0"/>
            </a:br>
            <a:r>
              <a:rPr lang="en-IN" sz="2400" dirty="0"/>
              <a:t>Countries with a large gap between energy production and consumption should improve energy planning to reduce excessive dependence on imports or unused production capacity.</a:t>
            </a:r>
          </a:p>
        </p:txBody>
      </p:sp>
      <p:sp>
        <p:nvSpPr>
          <p:cNvPr id="4" name="Google Shape;105;p3">
            <a:extLst>
              <a:ext uri="{FF2B5EF4-FFF2-40B4-BE49-F238E27FC236}">
                <a16:creationId xmlns:a16="http://schemas.microsoft.com/office/drawing/2014/main" id="{BDC13434-3694-DB5A-7041-A4D59E7515E6}"/>
              </a:ext>
            </a:extLst>
          </p:cNvPr>
          <p:cNvSpPr txBox="1"/>
          <p:nvPr/>
        </p:nvSpPr>
        <p:spPr>
          <a:xfrm>
            <a:off x="1012371" y="416554"/>
            <a:ext cx="5514884" cy="486247"/>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1" dirty="0">
                <a:solidFill>
                  <a:srgbClr val="FF0000"/>
                </a:solidFill>
                <a:latin typeface="Times New Roman" panose="02020603050405020304" pitchFamily="18" charset="0"/>
                <a:ea typeface="Lato Black"/>
                <a:cs typeface="Times New Roman" panose="02020603050405020304" pitchFamily="18" charset="0"/>
                <a:sym typeface="Lato Black"/>
              </a:rPr>
              <a:t>Recommendations</a:t>
            </a:r>
            <a:endParaRPr sz="1800" b="1" i="0" u="none" strike="noStrike" cap="none" dirty="0">
              <a:solidFill>
                <a:srgbClr val="FF0000"/>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3152549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12CF6B6-2614-5D88-F514-2E7B4F93318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BFA0B01-A860-843A-61DF-5E6481E7FA83}"/>
              </a:ext>
            </a:extLst>
          </p:cNvPr>
          <p:cNvSpPr>
            <a:spLocks noGrp="1"/>
          </p:cNvSpPr>
          <p:nvPr>
            <p:ph type="body" idx="1"/>
          </p:nvPr>
        </p:nvSpPr>
        <p:spPr>
          <a:xfrm>
            <a:off x="912725" y="883976"/>
            <a:ext cx="10462846" cy="5129701"/>
          </a:xfrm>
        </p:spPr>
        <p:txBody>
          <a:bodyPr>
            <a:normAutofit/>
          </a:bodyPr>
          <a:lstStyle/>
          <a:p>
            <a:pPr marL="114300" indent="0">
              <a:buNone/>
            </a:pPr>
            <a:r>
              <a:rPr lang="en-IN" dirty="0"/>
              <a:t>The project analyzed global energy consumption, production, GDP, population, and emissions using SQL. The analysis shows that increasing energy demand is linked to economic and population growth, while fossil fuels remain major contributors to emissions.</a:t>
            </a:r>
          </a:p>
          <a:p>
            <a:pPr marL="114300" indent="0">
              <a:buNone/>
            </a:pPr>
            <a:r>
              <a:rPr lang="en-IN" dirty="0"/>
              <a:t>The study highlights the importance of renewable energy and efficient energy use. Overall, sustainable development requires balancing </a:t>
            </a:r>
            <a:r>
              <a:rPr lang="en-IN" b="1" dirty="0"/>
              <a:t>energy needs, economic growth, and environmental responsibility</a:t>
            </a:r>
            <a:r>
              <a:rPr lang="en-IN" dirty="0"/>
              <a:t>.</a:t>
            </a:r>
          </a:p>
          <a:p>
            <a:pPr marL="114300" indent="0">
              <a:buNone/>
            </a:pPr>
            <a:endParaRPr lang="en-IN" dirty="0"/>
          </a:p>
        </p:txBody>
      </p:sp>
      <p:sp>
        <p:nvSpPr>
          <p:cNvPr id="4" name="Google Shape;105;p3">
            <a:extLst>
              <a:ext uri="{FF2B5EF4-FFF2-40B4-BE49-F238E27FC236}">
                <a16:creationId xmlns:a16="http://schemas.microsoft.com/office/drawing/2014/main" id="{6FF8A83A-9327-6A1A-66D5-C9D862F9DE41}"/>
              </a:ext>
            </a:extLst>
          </p:cNvPr>
          <p:cNvSpPr txBox="1"/>
          <p:nvPr/>
        </p:nvSpPr>
        <p:spPr>
          <a:xfrm>
            <a:off x="1001486" y="416554"/>
            <a:ext cx="5525769" cy="486247"/>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1" dirty="0">
                <a:solidFill>
                  <a:srgbClr val="FF0000"/>
                </a:solidFill>
                <a:latin typeface="Times New Roman" panose="02020603050405020304" pitchFamily="18" charset="0"/>
                <a:ea typeface="Lato Black"/>
                <a:cs typeface="Times New Roman" panose="02020603050405020304" pitchFamily="18" charset="0"/>
                <a:sym typeface="Lato Black"/>
              </a:rPr>
              <a:t>Conclusion</a:t>
            </a:r>
            <a:endParaRPr sz="1800" b="1" i="0" u="none" strike="noStrike" cap="none" dirty="0">
              <a:solidFill>
                <a:srgbClr val="FF0000"/>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4251011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64EC826-43FC-EA68-FB43-1D747E9C8502}"/>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9B4161B-9008-EA39-5789-0D126E03BCB2}"/>
              </a:ext>
            </a:extLst>
          </p:cNvPr>
          <p:cNvPicPr>
            <a:picLocks noChangeAspect="1"/>
          </p:cNvPicPr>
          <p:nvPr/>
        </p:nvPicPr>
        <p:blipFill>
          <a:blip r:embed="rId2"/>
          <a:stretch>
            <a:fillRect/>
          </a:stretch>
        </p:blipFill>
        <p:spPr>
          <a:xfrm>
            <a:off x="1360714" y="-1"/>
            <a:ext cx="8284029" cy="6090557"/>
          </a:xfrm>
          <a:prstGeom prst="rect">
            <a:avLst/>
          </a:prstGeom>
        </p:spPr>
      </p:pic>
    </p:spTree>
    <p:extLst>
      <p:ext uri="{BB962C8B-B14F-4D97-AF65-F5344CB8AC3E}">
        <p14:creationId xmlns:p14="http://schemas.microsoft.com/office/powerpoint/2010/main" val="10599314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487</TotalTime>
  <Words>1218</Words>
  <Application>Microsoft Office PowerPoint</Application>
  <PresentationFormat>Widescreen</PresentationFormat>
  <Paragraphs>176</Paragraphs>
  <Slides>25</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Wingdings</vt:lpstr>
      <vt:lpstr>Arial</vt:lpstr>
      <vt:lpstr>Lato Black</vt:lpstr>
      <vt:lpstr>Libre Baskerville</vt:lpstr>
      <vt:lpstr>Calibri</vt:lpstr>
      <vt:lpstr>Times New Roman</vt:lpstr>
      <vt:lpstr>Office Theme</vt:lpstr>
      <vt:lpstr>PowerPoint Presentation</vt:lpstr>
      <vt:lpstr>PowerPoint Presentation</vt:lpstr>
      <vt:lpstr>PowerPoint Presentation</vt:lpstr>
      <vt:lpstr>PowerPoint Presentation</vt:lpstr>
      <vt:lpstr>Countries face challenges in managing increasing energy demand while controlling environmental impact. There is a need to understand how energy consumption, production, GDP, population, and emissions are changing across countries and years. The business problem is to use historical energy data and SQL analysis to identify energy consumption trends, production-consumption gaps, major emission contributors, and the relationship between economic growth and energy usage. These insights can help organizations and policymakers improve energy planning, resource utilization, and sustainability strategies.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Shivarla Naveen</cp:lastModifiedBy>
  <cp:revision>14</cp:revision>
  <dcterms:created xsi:type="dcterms:W3CDTF">2021-02-16T05:19:01Z</dcterms:created>
  <dcterms:modified xsi:type="dcterms:W3CDTF">2026-10-02T11:52:45Z</dcterms:modified>
</cp:coreProperties>
</file>